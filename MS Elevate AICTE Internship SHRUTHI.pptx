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22"/>
  </p:notesMasterIdLst>
  <p:sldIdLst>
    <p:sldId id="256" r:id="rId3"/>
    <p:sldId id="571" r:id="rId4"/>
    <p:sldId id="572" r:id="rId5"/>
    <p:sldId id="573" r:id="rId6"/>
    <p:sldId id="574" r:id="rId7"/>
    <p:sldId id="575" r:id="rId8"/>
    <p:sldId id="576" r:id="rId9"/>
    <p:sldId id="577" r:id="rId10"/>
    <p:sldId id="579" r:id="rId11"/>
    <p:sldId id="578" r:id="rId12"/>
    <p:sldId id="583" r:id="rId13"/>
    <p:sldId id="584" r:id="rId14"/>
    <p:sldId id="581" r:id="rId15"/>
    <p:sldId id="580" r:id="rId16"/>
    <p:sldId id="582" r:id="rId17"/>
    <p:sldId id="536" r:id="rId18"/>
    <p:sldId id="585" r:id="rId19"/>
    <p:sldId id="586" r:id="rId20"/>
    <p:sldId id="587" r:id="rId21"/>
  </p:sldIdLst>
  <p:sldSz cx="12192000" cy="6858000"/>
  <p:notesSz cx="6858000" cy="9144000"/>
  <p:custDataLst>
    <p:tags r:id="rId2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showGuides="1">
      <p:cViewPr varScale="1">
        <p:scale>
          <a:sx n="82" d="100"/>
          <a:sy n="82" d="100"/>
        </p:scale>
        <p:origin x="691" y="7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gs" Target="tags/tag1.xml"/><Relationship Id="rId28" Type="http://schemas.microsoft.com/office/2018/10/relationships/authors" Target="author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11-03-2026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cs typeface="Calibri" panose="020F0502020204030204"/>
            </a:endParaRPr>
          </a:p>
        </p:txBody>
      </p:sp>
      <p:sp>
        <p:nvSpPr>
          <p:cNvPr id="4" name="Slide Number Placeholder 3"/>
          <p:cNvSpPr>
            <a:spLocks noGrp="1"/>
          </p:cNvSpPr>
          <p:nvPr>
            <p:ph type="sldNum" sz="quarter" idx="5"/>
          </p:nvPr>
        </p:nvSpPr>
        <p:spPr/>
        <p:txBody>
          <a:bodyPr/>
          <a:lstStyle/>
          <a:p>
            <a:fld id="{F3065E4E-ABE4-4C79-8716-B93932D5FBD3}" type="slidenum">
              <a:rPr lang="en-IN" smtClean="0"/>
              <a:t>16</a:t>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3CBB7-D0F4-99FF-DC04-47E0AEDD99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33E45D-18E0-6A2C-39FF-47BB5DA8B9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CB8CC3-EDEF-A287-9645-878349C4894D}"/>
              </a:ext>
            </a:extLst>
          </p:cNvPr>
          <p:cNvSpPr>
            <a:spLocks noGrp="1"/>
          </p:cNvSpPr>
          <p:nvPr>
            <p:ph type="body" idx="1"/>
          </p:nvPr>
        </p:nvSpPr>
        <p:spPr/>
        <p:txBody>
          <a:bodyPr/>
          <a:lstStyle/>
          <a:p>
            <a:endParaRPr lang="en-IN">
              <a:cs typeface="Calibri" panose="020F0502020204030204"/>
            </a:endParaRPr>
          </a:p>
        </p:txBody>
      </p:sp>
      <p:sp>
        <p:nvSpPr>
          <p:cNvPr id="4" name="Slide Number Placeholder 3">
            <a:extLst>
              <a:ext uri="{FF2B5EF4-FFF2-40B4-BE49-F238E27FC236}">
                <a16:creationId xmlns:a16="http://schemas.microsoft.com/office/drawing/2014/main" id="{B7172987-A881-6A8D-85C1-2B593C0B2DB3}"/>
              </a:ext>
            </a:extLst>
          </p:cNvPr>
          <p:cNvSpPr>
            <a:spLocks noGrp="1"/>
          </p:cNvSpPr>
          <p:nvPr>
            <p:ph type="sldNum" sz="quarter" idx="5"/>
          </p:nvPr>
        </p:nvSpPr>
        <p:spPr/>
        <p:txBody>
          <a:bodyPr/>
          <a:lstStyle/>
          <a:p>
            <a:fld id="{F3065E4E-ABE4-4C79-8716-B93932D5FBD3}" type="slidenum">
              <a:rPr lang="en-IN" smtClean="0"/>
              <a:t>17</a:t>
            </a:fld>
            <a:endParaRPr lang="en-IN"/>
          </a:p>
        </p:txBody>
      </p:sp>
    </p:spTree>
    <p:extLst>
      <p:ext uri="{BB962C8B-B14F-4D97-AF65-F5344CB8AC3E}">
        <p14:creationId xmlns:p14="http://schemas.microsoft.com/office/powerpoint/2010/main" val="32081541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FCA20-3ACF-331A-65EA-E587490799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12C5E9-E891-B656-1AEE-F91E8414C5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2E2A7B-3FBB-6ABD-10EE-B14B24983C42}"/>
              </a:ext>
            </a:extLst>
          </p:cNvPr>
          <p:cNvSpPr>
            <a:spLocks noGrp="1"/>
          </p:cNvSpPr>
          <p:nvPr>
            <p:ph type="body" idx="1"/>
          </p:nvPr>
        </p:nvSpPr>
        <p:spPr/>
        <p:txBody>
          <a:bodyPr/>
          <a:lstStyle/>
          <a:p>
            <a:endParaRPr lang="en-IN">
              <a:cs typeface="Calibri" panose="020F0502020204030204"/>
            </a:endParaRPr>
          </a:p>
        </p:txBody>
      </p:sp>
      <p:sp>
        <p:nvSpPr>
          <p:cNvPr id="4" name="Slide Number Placeholder 3">
            <a:extLst>
              <a:ext uri="{FF2B5EF4-FFF2-40B4-BE49-F238E27FC236}">
                <a16:creationId xmlns:a16="http://schemas.microsoft.com/office/drawing/2014/main" id="{D17408DE-060B-89E5-D4D6-48BF8758A5EE}"/>
              </a:ext>
            </a:extLst>
          </p:cNvPr>
          <p:cNvSpPr>
            <a:spLocks noGrp="1"/>
          </p:cNvSpPr>
          <p:nvPr>
            <p:ph type="sldNum" sz="quarter" idx="5"/>
          </p:nvPr>
        </p:nvSpPr>
        <p:spPr/>
        <p:txBody>
          <a:bodyPr/>
          <a:lstStyle/>
          <a:p>
            <a:fld id="{F3065E4E-ABE4-4C79-8716-B93932D5FBD3}" type="slidenum">
              <a:rPr lang="en-IN" smtClean="0"/>
              <a:t>18</a:t>
            </a:fld>
            <a:endParaRPr lang="en-IN"/>
          </a:p>
        </p:txBody>
      </p:sp>
    </p:spTree>
    <p:extLst>
      <p:ext uri="{BB962C8B-B14F-4D97-AF65-F5344CB8AC3E}">
        <p14:creationId xmlns:p14="http://schemas.microsoft.com/office/powerpoint/2010/main" val="35014400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4880B-47E0-E397-CC2E-43AB78B630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C7D12E-04EB-0AA7-3333-863B888933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ECA62A-CE8C-9A23-7899-97C578AD72FD}"/>
              </a:ext>
            </a:extLst>
          </p:cNvPr>
          <p:cNvSpPr>
            <a:spLocks noGrp="1"/>
          </p:cNvSpPr>
          <p:nvPr>
            <p:ph type="body" idx="1"/>
          </p:nvPr>
        </p:nvSpPr>
        <p:spPr/>
        <p:txBody>
          <a:bodyPr/>
          <a:lstStyle/>
          <a:p>
            <a:endParaRPr lang="en-IN">
              <a:cs typeface="Calibri" panose="020F0502020204030204"/>
            </a:endParaRPr>
          </a:p>
        </p:txBody>
      </p:sp>
      <p:sp>
        <p:nvSpPr>
          <p:cNvPr id="4" name="Slide Number Placeholder 3">
            <a:extLst>
              <a:ext uri="{FF2B5EF4-FFF2-40B4-BE49-F238E27FC236}">
                <a16:creationId xmlns:a16="http://schemas.microsoft.com/office/drawing/2014/main" id="{B9DF1B3E-F0B1-A06C-4564-1FD5789DEAC1}"/>
              </a:ext>
            </a:extLst>
          </p:cNvPr>
          <p:cNvSpPr>
            <a:spLocks noGrp="1"/>
          </p:cNvSpPr>
          <p:nvPr>
            <p:ph type="sldNum" sz="quarter" idx="5"/>
          </p:nvPr>
        </p:nvSpPr>
        <p:spPr/>
        <p:txBody>
          <a:bodyPr/>
          <a:lstStyle/>
          <a:p>
            <a:fld id="{F3065E4E-ABE4-4C79-8716-B93932D5FBD3}" type="slidenum">
              <a:rPr lang="en-IN" smtClean="0"/>
              <a:t>19</a:t>
            </a:fld>
            <a:endParaRPr lang="en-IN"/>
          </a:p>
        </p:txBody>
      </p:sp>
    </p:spTree>
    <p:extLst>
      <p:ext uri="{BB962C8B-B14F-4D97-AF65-F5344CB8AC3E}">
        <p14:creationId xmlns:p14="http://schemas.microsoft.com/office/powerpoint/2010/main" val="33170057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B3FA99E-0146-4BD9-9E30-4EB71F3A4207}" type="datetimeFigureOut">
              <a:rPr lang="en-IN" smtClean="0"/>
              <a:t>11-03-2026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81918-31C6-44C6-A382-2FA557A3F6B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3/11/2026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11/03/2026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p:cNvSpPr>
            <a:spLocks noGrp="1"/>
          </p:cNvSpPr>
          <p:nvPr/>
        </p:nvSpPr>
        <p:spPr>
          <a:xfrm>
            <a:off x="517379" y="1343054"/>
            <a:ext cx="4746772" cy="2506766"/>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sz="5100" b="1" cap="all" dirty="0">
                <a:latin typeface="Aptos"/>
              </a:rPr>
              <a:t>smart campus energy consumption analysis using power bi</a:t>
            </a:r>
            <a:endParaRPr lang="en-US" sz="5100" dirty="0">
              <a:latin typeface="Aptos"/>
            </a:endParaRPr>
          </a:p>
          <a:p>
            <a:pPr algn="l"/>
            <a:endParaRPr lang="en-US" sz="5100" b="1" kern="1200" dirty="0"/>
          </a:p>
        </p:txBody>
      </p:sp>
      <p:sp>
        <p:nvSpPr>
          <p:cNvPr id="5" name="Subtitle 2"/>
          <p:cNvSpPr>
            <a:spLocks noGrp="1"/>
          </p:cNvSpPr>
          <p:nvPr/>
        </p:nvSpPr>
        <p:spPr>
          <a:xfrm>
            <a:off x="688623" y="3544992"/>
            <a:ext cx="4166512" cy="2444776"/>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 SHRUTHI KANDUKURI</a:t>
            </a:r>
          </a:p>
          <a:p>
            <a:pPr algn="l">
              <a:spcAft>
                <a:spcPts val="600"/>
              </a:spcAft>
            </a:pPr>
            <a:r>
              <a:rPr lang="en-US" sz="1600" b="1" cap="all" dirty="0"/>
              <a:t>Student Name: </a:t>
            </a:r>
            <a:r>
              <a:rPr lang="en-US" sz="1600" b="1" cap="all" dirty="0" err="1"/>
              <a:t>shruthi</a:t>
            </a:r>
            <a:r>
              <a:rPr lang="en-US" sz="1600" b="1" cap="all" dirty="0"/>
              <a:t> Kandukuri </a:t>
            </a:r>
          </a:p>
          <a:p>
            <a:pPr algn="l">
              <a:spcAft>
                <a:spcPts val="600"/>
              </a:spcAft>
            </a:pPr>
            <a:r>
              <a:rPr lang="en-US" sz="1600" b="1" cap="all" dirty="0"/>
              <a:t>College Name: Vaagdevi college of engineering</a:t>
            </a:r>
          </a:p>
          <a:p>
            <a:pPr algn="l">
              <a:spcAft>
                <a:spcPts val="600"/>
              </a:spcAft>
            </a:pPr>
            <a:r>
              <a:rPr lang="en-US" sz="1600" b="1" cap="all" dirty="0"/>
              <a:t>Department: Master of business administration (</a:t>
            </a:r>
            <a:r>
              <a:rPr lang="en-US" sz="1600" b="1" cap="all" dirty="0" err="1"/>
              <a:t>mba</a:t>
            </a:r>
            <a:r>
              <a:rPr lang="en-US" sz="1600" b="1" cap="all" dirty="0"/>
              <a:t>)</a:t>
            </a:r>
          </a:p>
          <a:p>
            <a:pPr algn="l">
              <a:spcAft>
                <a:spcPts val="600"/>
              </a:spcAft>
            </a:pPr>
            <a:r>
              <a:rPr lang="en-US" sz="1600" b="1" cap="all" dirty="0"/>
              <a:t>Email ID:Iamshruthi12@GMAIL.COM</a:t>
            </a:r>
          </a:p>
        </p:txBody>
      </p:sp>
      <p:sp>
        <p:nvSpPr>
          <p:cNvPr id="8" name="Rectangle 7"/>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0" name="Picture 9">
            <a:extLst>
              <a:ext uri="{FF2B5EF4-FFF2-40B4-BE49-F238E27FC236}">
                <a16:creationId xmlns:a16="http://schemas.microsoft.com/office/drawing/2014/main" id="{B6BCACFC-1232-7B24-9EAF-C2B83330443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03749" y="776934"/>
            <a:ext cx="4669087" cy="4955792"/>
          </a:xfrm>
          <a:prstGeom prst="rect">
            <a:avLst/>
          </a:prstGeom>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panose="020B0604020202020204"/>
                <a:cs typeface="Arial" panose="020B0604020202020204"/>
              </a:rPr>
              <a:t>OUTLINE:</a:t>
            </a:r>
            <a:endParaRPr lang="en-US" sz="5400" dirty="0"/>
          </a:p>
        </p:txBody>
      </p:sp>
      <p:sp>
        <p:nvSpPr>
          <p:cNvPr id="3" name="Content Placeholder 2"/>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1800" b="1" dirty="0">
                <a:latin typeface="Arial" panose="020B0604020202020204"/>
                <a:cs typeface="Arial" panose="020B0604020202020204"/>
              </a:rPr>
              <a:t>Introduction to the problem</a:t>
            </a:r>
            <a:endParaRPr lang="en-US" sz="1800" dirty="0">
              <a:latin typeface="Arial" panose="020B0604020202020204"/>
              <a:cs typeface="Arial" panose="020B0604020202020204"/>
            </a:endParaRPr>
          </a:p>
          <a:p>
            <a:pPr marL="305435" indent="-305435">
              <a:spcBef>
                <a:spcPct val="20000"/>
              </a:spcBef>
              <a:spcAft>
                <a:spcPts val="600"/>
              </a:spcAft>
            </a:pPr>
            <a:r>
              <a:rPr lang="en-US" sz="1800" b="1" dirty="0">
                <a:latin typeface="Arial" panose="020B0604020202020204"/>
                <a:cs typeface="Arial" panose="020B0604020202020204"/>
              </a:rPr>
              <a:t>Problem  statement</a:t>
            </a:r>
          </a:p>
          <a:p>
            <a:pPr marL="305435" indent="-305435">
              <a:spcBef>
                <a:spcPct val="20000"/>
              </a:spcBef>
              <a:spcAft>
                <a:spcPts val="600"/>
              </a:spcAft>
            </a:pPr>
            <a:r>
              <a:rPr lang="en-US" sz="1800" b="1" dirty="0">
                <a:latin typeface="Arial" panose="020B0604020202020204"/>
                <a:cs typeface="Arial" panose="020B0604020202020204"/>
              </a:rPr>
              <a:t>Proposed solution</a:t>
            </a:r>
            <a:endParaRPr lang="en-US" sz="1800" dirty="0">
              <a:latin typeface="Arial" panose="020B0604020202020204"/>
              <a:cs typeface="Arial" panose="020B0604020202020204"/>
            </a:endParaRPr>
          </a:p>
          <a:p>
            <a:pPr marL="305435" indent="-305435">
              <a:spcBef>
                <a:spcPct val="20000"/>
              </a:spcBef>
              <a:spcAft>
                <a:spcPts val="600"/>
              </a:spcAft>
            </a:pPr>
            <a:r>
              <a:rPr lang="en-US" sz="1800" b="1" dirty="0">
                <a:latin typeface="Arial" panose="020B0604020202020204"/>
                <a:cs typeface="Arial" panose="020B0604020202020204"/>
              </a:rPr>
              <a:t>System Development Approach </a:t>
            </a:r>
            <a:endParaRPr lang="en-US" sz="1800" dirty="0">
              <a:latin typeface="Arial" panose="020B0604020202020204"/>
              <a:cs typeface="Arial" panose="020B0604020202020204"/>
            </a:endParaRPr>
          </a:p>
          <a:p>
            <a:pPr marL="305435" indent="-305435">
              <a:spcBef>
                <a:spcPct val="20000"/>
              </a:spcBef>
              <a:spcAft>
                <a:spcPts val="600"/>
              </a:spcAft>
            </a:pPr>
            <a:r>
              <a:rPr lang="en-US" sz="1800" b="1" dirty="0">
                <a:latin typeface="Arial" panose="020B0604020202020204"/>
                <a:cs typeface="Arial" panose="020B0604020202020204"/>
              </a:rPr>
              <a:t>Tools used  </a:t>
            </a:r>
            <a:endParaRPr lang="en-US" sz="1800" dirty="0">
              <a:latin typeface="Arial" panose="020B0604020202020204"/>
              <a:cs typeface="Arial" panose="020B0604020202020204"/>
            </a:endParaRPr>
          </a:p>
          <a:p>
            <a:pPr marL="305435" indent="-305435">
              <a:spcBef>
                <a:spcPct val="20000"/>
              </a:spcBef>
              <a:spcAft>
                <a:spcPts val="600"/>
              </a:spcAft>
            </a:pPr>
            <a:r>
              <a:rPr lang="en-US" sz="1800" b="1" dirty="0">
                <a:latin typeface="Arial" panose="020B0604020202020204"/>
                <a:cs typeface="Arial" panose="020B0604020202020204"/>
              </a:rPr>
              <a:t>Dataset Example</a:t>
            </a:r>
          </a:p>
          <a:p>
            <a:pPr marL="305435" indent="-305435">
              <a:spcBef>
                <a:spcPct val="20000"/>
              </a:spcBef>
              <a:spcAft>
                <a:spcPts val="600"/>
              </a:spcAft>
            </a:pPr>
            <a:r>
              <a:rPr lang="en-US" sz="1800" b="1" dirty="0">
                <a:latin typeface="Arial" panose="020B0604020202020204"/>
                <a:cs typeface="Arial" panose="020B0604020202020204"/>
              </a:rPr>
              <a:t>Bar Chart, Line Chart, Pie Chart, Stacked Column Chart, Area Chart,  and KPI .</a:t>
            </a:r>
            <a:r>
              <a:rPr lang="en-US" sz="1800" dirty="0">
                <a:latin typeface="Arial" panose="020B0604020202020204"/>
                <a:cs typeface="Arial" panose="020B0604020202020204"/>
              </a:rPr>
              <a:t> </a:t>
            </a:r>
          </a:p>
          <a:p>
            <a:pPr marL="305435" indent="-305435">
              <a:spcBef>
                <a:spcPct val="20000"/>
              </a:spcBef>
              <a:spcAft>
                <a:spcPts val="600"/>
              </a:spcAft>
            </a:pPr>
            <a:r>
              <a:rPr lang="en-US" sz="1800" b="1" dirty="0">
                <a:latin typeface="Arial" panose="020B0604020202020204"/>
                <a:cs typeface="Arial" panose="020B0604020202020204"/>
              </a:rPr>
              <a:t>Results</a:t>
            </a:r>
          </a:p>
          <a:p>
            <a:pPr marL="305435" indent="-305435">
              <a:spcBef>
                <a:spcPct val="20000"/>
              </a:spcBef>
              <a:spcAft>
                <a:spcPts val="600"/>
              </a:spcAft>
            </a:pPr>
            <a:r>
              <a:rPr lang="en-US" sz="1800" b="1" dirty="0">
                <a:latin typeface="Arial" panose="020B0604020202020204"/>
                <a:cs typeface="Arial" panose="020B0604020202020204"/>
              </a:rPr>
              <a:t>Conclusion</a:t>
            </a:r>
            <a:endParaRPr lang="en-US" sz="1800" dirty="0">
              <a:latin typeface="Arial" panose="020B0604020202020204"/>
              <a:cs typeface="Arial" panose="020B0604020202020204"/>
            </a:endParaRPr>
          </a:p>
          <a:p>
            <a:pPr marL="305435" indent="-305435">
              <a:spcBef>
                <a:spcPct val="20000"/>
              </a:spcBef>
              <a:spcAft>
                <a:spcPts val="600"/>
              </a:spcAft>
            </a:pPr>
            <a:r>
              <a:rPr lang="en-US" sz="1800" b="1" dirty="0">
                <a:latin typeface="Arial" panose="020B0604020202020204"/>
                <a:cs typeface="Arial" panose="020B0604020202020204"/>
              </a:rPr>
              <a:t>Future Scope</a:t>
            </a:r>
            <a:endParaRPr lang="en-US" sz="1800" dirty="0">
              <a:latin typeface="Arial" panose="020B0604020202020204"/>
              <a:cs typeface="Arial" panose="020B0604020202020204"/>
            </a:endParaRPr>
          </a:p>
          <a:p>
            <a:pPr marL="305435" indent="-305435">
              <a:spcBef>
                <a:spcPct val="20000"/>
              </a:spcBef>
              <a:spcAft>
                <a:spcPts val="600"/>
              </a:spcAft>
            </a:pPr>
            <a:r>
              <a:rPr lang="en-US" sz="1800" b="1" dirty="0">
                <a:latin typeface="Arial" panose="020B0604020202020204"/>
                <a:cs typeface="Arial" panose="020B0604020202020204"/>
              </a:rPr>
              <a:t>References</a:t>
            </a:r>
            <a:endParaRPr lang="en-US" sz="1800" dirty="0">
              <a:latin typeface="Arial" panose="020B0604020202020204"/>
              <a:cs typeface="Arial" panose="020B0604020202020204"/>
            </a:endParaRPr>
          </a:p>
          <a:p>
            <a:endParaRPr lang="en-GB" sz="2200" dirty="0">
              <a:latin typeface="Aptos"/>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dirty="0">
                <a:latin typeface="Arial" panose="020B0604020202020204"/>
                <a:cs typeface="Arial" panose="020B0604020202020204"/>
              </a:rPr>
              <a:t>Problem Statement:</a:t>
            </a:r>
            <a:endParaRPr lang="en-US" sz="4000" dirty="0"/>
          </a:p>
        </p:txBody>
      </p:sp>
      <p:sp>
        <p:nvSpPr>
          <p:cNvPr id="3" name="Content Placeholder 2"/>
          <p:cNvSpPr>
            <a:spLocks noGrp="1"/>
          </p:cNvSpPr>
          <p:nvPr>
            <p:ph idx="1"/>
          </p:nvPr>
        </p:nvSpPr>
        <p:spPr>
          <a:xfrm>
            <a:off x="290512" y="1715071"/>
            <a:ext cx="10515600" cy="4251960"/>
          </a:xfrm>
        </p:spPr>
        <p:txBody>
          <a:bodyPr vert="horz" lIns="91440" tIns="45720" rIns="91440" bIns="45720" rtlCol="0">
            <a:normAutofit lnSpcReduction="10000"/>
          </a:bodyPr>
          <a:lstStyle/>
          <a:p>
            <a:pPr>
              <a:buFont typeface="Wingdings" panose="05000000000000000000" pitchFamily="2" charset="2"/>
              <a:buChar char="§"/>
            </a:pPr>
            <a:r>
              <a:rPr lang="en-US" sz="2000" dirty="0"/>
              <a:t>Electricity consumption in college campuses is usually very high because many facilities operate throughout the day. Classrooms, laboratories, hostels, libraries, and administration offices all require electricity for lighting, computers, air conditioning, and other equipment.</a:t>
            </a:r>
          </a:p>
          <a:p>
            <a:pPr>
              <a:buFont typeface="Wingdings" panose="05000000000000000000" pitchFamily="2" charset="2"/>
              <a:buChar char="§"/>
            </a:pPr>
            <a:endParaRPr lang="en-US" sz="2000" dirty="0"/>
          </a:p>
          <a:p>
            <a:pPr>
              <a:buFont typeface="Wingdings" panose="05000000000000000000" pitchFamily="2" charset="2"/>
              <a:buChar char="§"/>
            </a:pPr>
            <a:r>
              <a:rPr lang="en-US" sz="2000" dirty="0"/>
              <a:t>However, in many institutions there is no proper system to analyze how electricity is being used across different buildings. As a result, energy may be wasted without anyone realizing it.</a:t>
            </a:r>
          </a:p>
          <a:p>
            <a:pPr>
              <a:buFont typeface="Wingdings" panose="05000000000000000000" pitchFamily="2" charset="2"/>
              <a:buChar char="§"/>
            </a:pPr>
            <a:endParaRPr lang="en-US" sz="2000" dirty="0"/>
          </a:p>
          <a:p>
            <a:pPr>
              <a:buFont typeface="Wingdings" panose="05000000000000000000" pitchFamily="2" charset="2"/>
              <a:buChar char="§"/>
            </a:pPr>
            <a:r>
              <a:rPr lang="en-US" sz="2000" dirty="0"/>
              <a:t>Without proper monitoring, it becomes difficult for administrators to understand which areas consume the most electricity and during which time periods.</a:t>
            </a:r>
          </a:p>
          <a:p>
            <a:pPr>
              <a:buFont typeface="Wingdings" panose="05000000000000000000" pitchFamily="2" charset="2"/>
              <a:buChar char="§"/>
            </a:pPr>
            <a:endParaRPr lang="en-US" sz="2000" dirty="0"/>
          </a:p>
          <a:p>
            <a:pPr>
              <a:buFont typeface="Wingdings" panose="05000000000000000000" pitchFamily="2" charset="2"/>
              <a:buChar char="§"/>
            </a:pPr>
            <a:r>
              <a:rPr lang="en-US" sz="2000" dirty="0"/>
              <a:t>Therefore, analyzing energy consumption using data visualization tools can help institutions manage electricity usage more efficiently and reduce unnecessary energy costs.</a:t>
            </a:r>
          </a:p>
          <a:p>
            <a:pPr marL="0" indent="0">
              <a:buNone/>
            </a:pP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Proposed Solution:</a:t>
            </a:r>
            <a:endParaRPr lang="en-US" sz="4000" dirty="0"/>
          </a:p>
        </p:txBody>
      </p:sp>
      <p:sp>
        <p:nvSpPr>
          <p:cNvPr id="3" name="Content Placeholder 2"/>
          <p:cNvSpPr>
            <a:spLocks noGrp="1"/>
          </p:cNvSpPr>
          <p:nvPr>
            <p:ph idx="1"/>
          </p:nvPr>
        </p:nvSpPr>
        <p:spPr>
          <a:xfrm>
            <a:off x="237736" y="1406942"/>
            <a:ext cx="11220256" cy="5115155"/>
          </a:xfrm>
        </p:spPr>
        <p:txBody>
          <a:bodyPr vert="horz" lIns="91440" tIns="45720" rIns="91440" bIns="45720" rtlCol="0" anchor="t">
            <a:noAutofit/>
          </a:bodyPr>
          <a:lstStyle/>
          <a:p>
            <a:pPr>
              <a:spcBef>
                <a:spcPct val="20000"/>
              </a:spcBef>
              <a:spcAft>
                <a:spcPts val="600"/>
              </a:spcAft>
              <a:buFont typeface="Wingdings" panose="05000000000000000000" pitchFamily="2" charset="2"/>
              <a:buChar char="§"/>
            </a:pPr>
            <a:r>
              <a:rPr lang="en-GB" sz="2000" dirty="0"/>
              <a:t>The proposed solution is to </a:t>
            </a:r>
            <a:r>
              <a:rPr lang="en-GB" sz="2000" dirty="0" err="1"/>
              <a:t>analyze</a:t>
            </a:r>
            <a:r>
              <a:rPr lang="en-GB" sz="2000" dirty="0"/>
              <a:t> campus electricity consumption using interactive dashboards created in Microsoft Power BI.</a:t>
            </a:r>
          </a:p>
          <a:p>
            <a:pPr>
              <a:spcBef>
                <a:spcPct val="20000"/>
              </a:spcBef>
              <a:spcAft>
                <a:spcPts val="600"/>
              </a:spcAft>
              <a:buFont typeface="Wingdings" panose="05000000000000000000" pitchFamily="2" charset="2"/>
              <a:buChar char="§"/>
            </a:pPr>
            <a:endParaRPr lang="en-GB" sz="2000" dirty="0"/>
          </a:p>
          <a:p>
            <a:pPr>
              <a:spcBef>
                <a:spcPct val="20000"/>
              </a:spcBef>
              <a:spcAft>
                <a:spcPts val="600"/>
              </a:spcAft>
              <a:buFont typeface="Wingdings" panose="05000000000000000000" pitchFamily="2" charset="2"/>
              <a:buChar char="§"/>
            </a:pPr>
            <a:r>
              <a:rPr lang="en-GB" sz="2000" dirty="0"/>
              <a:t>Energy consumption data from different campus buildings is collected and organized in a dataset. The dashboard then visualizes this data to show patterns and trends in electricity usage.</a:t>
            </a:r>
          </a:p>
          <a:p>
            <a:pPr>
              <a:spcBef>
                <a:spcPct val="20000"/>
              </a:spcBef>
              <a:spcAft>
                <a:spcPts val="600"/>
              </a:spcAft>
              <a:buFont typeface="Wingdings" panose="05000000000000000000" pitchFamily="2" charset="2"/>
              <a:buChar char="§"/>
            </a:pPr>
            <a:endParaRPr lang="en-GB" sz="2000" dirty="0"/>
          </a:p>
          <a:p>
            <a:pPr>
              <a:spcBef>
                <a:spcPct val="20000"/>
              </a:spcBef>
              <a:spcAft>
                <a:spcPts val="600"/>
              </a:spcAft>
              <a:buFont typeface="Wingdings" panose="05000000000000000000" pitchFamily="2" charset="2"/>
              <a:buChar char="§"/>
            </a:pPr>
            <a:r>
              <a:rPr lang="en-GB" sz="2000" dirty="0"/>
              <a:t>The analysis focuses on building such as classrooms, laboratories, hostels, libraries, and administrative offices.</a:t>
            </a:r>
          </a:p>
          <a:p>
            <a:pPr>
              <a:spcBef>
                <a:spcPct val="20000"/>
              </a:spcBef>
              <a:spcAft>
                <a:spcPts val="600"/>
              </a:spcAft>
              <a:buFont typeface="Wingdings" panose="05000000000000000000" pitchFamily="2" charset="2"/>
              <a:buChar char="§"/>
            </a:pPr>
            <a:endParaRPr lang="en-GB" sz="2000" dirty="0"/>
          </a:p>
          <a:p>
            <a:pPr>
              <a:spcBef>
                <a:spcPct val="20000"/>
              </a:spcBef>
              <a:spcAft>
                <a:spcPts val="600"/>
              </a:spcAft>
              <a:buFont typeface="Wingdings" panose="05000000000000000000" pitchFamily="2" charset="2"/>
              <a:buChar char="§"/>
            </a:pPr>
            <a:r>
              <a:rPr lang="en-GB" sz="2000" dirty="0"/>
              <a:t>By visualizing the data through charts and graphs, administrators can clearly see which buildings consume the most electricity and during which months the consumption is highest.</a:t>
            </a:r>
          </a:p>
          <a:p>
            <a:pPr>
              <a:spcBef>
                <a:spcPct val="20000"/>
              </a:spcBef>
              <a:spcAft>
                <a:spcPts val="600"/>
              </a:spcAft>
              <a:buFont typeface="Wingdings" panose="05000000000000000000" pitchFamily="2" charset="2"/>
              <a:buChar char="§"/>
            </a:pPr>
            <a:endParaRPr lang="en-GB" sz="2000" dirty="0"/>
          </a:p>
          <a:p>
            <a:pPr>
              <a:spcBef>
                <a:spcPct val="20000"/>
              </a:spcBef>
              <a:spcAft>
                <a:spcPts val="600"/>
              </a:spcAft>
              <a:buFont typeface="Wingdings" panose="05000000000000000000" pitchFamily="2" charset="2"/>
              <a:buChar char="§"/>
            </a:pPr>
            <a:r>
              <a:rPr lang="en-GB" sz="2000" dirty="0"/>
              <a:t>This information can help institutions take steps to reduce energy waste and improve energy management.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99528"/>
            <a:ext cx="10515600" cy="1325563"/>
          </a:xfrm>
        </p:spPr>
        <p:txBody>
          <a:bodyPr lIns="91440" tIns="45720" rIns="91440" bIns="45720" anchor="t">
            <a:normAutofit/>
          </a:bodyPr>
          <a:lstStyle/>
          <a:p>
            <a:r>
              <a:rPr lang="en-US" sz="4000" b="1" cap="all" dirty="0">
                <a:latin typeface="Arial" panose="020B0604020202020204"/>
                <a:cs typeface="Arial" panose="020B0604020202020204"/>
              </a:rPr>
              <a:t>System development  Approach:</a:t>
            </a:r>
            <a:endParaRPr lang="en-US" sz="4000" dirty="0"/>
          </a:p>
        </p:txBody>
      </p:sp>
      <p:sp>
        <p:nvSpPr>
          <p:cNvPr id="3" name="Content Placeholder 2"/>
          <p:cNvSpPr>
            <a:spLocks noGrp="1"/>
          </p:cNvSpPr>
          <p:nvPr>
            <p:ph idx="1"/>
          </p:nvPr>
        </p:nvSpPr>
        <p:spPr>
          <a:xfrm>
            <a:off x="317409" y="1715586"/>
            <a:ext cx="10515600" cy="4251960"/>
          </a:xfrm>
        </p:spPr>
        <p:txBody>
          <a:bodyPr vert="horz" lIns="91440" tIns="45720" rIns="91440" bIns="45720" rtlCol="0">
            <a:normAutofit/>
          </a:bodyPr>
          <a:lstStyle/>
          <a:p>
            <a:pPr>
              <a:spcBef>
                <a:spcPct val="20000"/>
              </a:spcBef>
              <a:spcAft>
                <a:spcPts val="600"/>
              </a:spcAft>
              <a:buFont typeface="Wingdings" panose="05000000000000000000" pitchFamily="2" charset="2"/>
              <a:buChar char="§"/>
            </a:pPr>
            <a:r>
              <a:rPr lang="en-GB" sz="2000" dirty="0"/>
              <a:t>The project follows a simple data analysis process:</a:t>
            </a:r>
          </a:p>
          <a:p>
            <a:pPr>
              <a:spcBef>
                <a:spcPct val="20000"/>
              </a:spcBef>
              <a:spcAft>
                <a:spcPts val="600"/>
              </a:spcAft>
              <a:buFont typeface="Wingdings" panose="05000000000000000000" pitchFamily="2" charset="2"/>
              <a:buChar char="§"/>
            </a:pPr>
            <a:r>
              <a:rPr lang="en-GB" sz="2000" dirty="0"/>
              <a:t>First, electricity consumption data is collected from campus facilities. The dataset contains information about the building name, month and total electricity usage.</a:t>
            </a:r>
          </a:p>
          <a:p>
            <a:pPr>
              <a:spcBef>
                <a:spcPct val="20000"/>
              </a:spcBef>
              <a:spcAft>
                <a:spcPts val="600"/>
              </a:spcAft>
              <a:buFont typeface="Wingdings" panose="05000000000000000000" pitchFamily="2" charset="2"/>
              <a:buChar char="§"/>
            </a:pPr>
            <a:endParaRPr lang="en-GB" sz="2000" dirty="0"/>
          </a:p>
          <a:p>
            <a:pPr>
              <a:spcBef>
                <a:spcPct val="20000"/>
              </a:spcBef>
              <a:spcAft>
                <a:spcPts val="600"/>
              </a:spcAft>
              <a:buFont typeface="Wingdings" panose="05000000000000000000" pitchFamily="2" charset="2"/>
              <a:buChar char="§"/>
            </a:pPr>
            <a:r>
              <a:rPr lang="en-GB" sz="2000" dirty="0"/>
              <a:t>Next, the data is reviewed and cleaned to make sure there are no missing or incorrect values.</a:t>
            </a:r>
          </a:p>
          <a:p>
            <a:pPr>
              <a:spcBef>
                <a:spcPct val="20000"/>
              </a:spcBef>
              <a:spcAft>
                <a:spcPts val="600"/>
              </a:spcAft>
              <a:buFont typeface="Wingdings" panose="05000000000000000000" pitchFamily="2" charset="2"/>
              <a:buChar char="§"/>
            </a:pPr>
            <a:endParaRPr lang="en-GB" sz="2000" dirty="0"/>
          </a:p>
          <a:p>
            <a:pPr>
              <a:spcBef>
                <a:spcPct val="20000"/>
              </a:spcBef>
              <a:spcAft>
                <a:spcPts val="600"/>
              </a:spcAft>
              <a:buFont typeface="Wingdings" panose="05000000000000000000" pitchFamily="2" charset="2"/>
              <a:buChar char="§"/>
            </a:pPr>
            <a:r>
              <a:rPr lang="en-GB" sz="2000" dirty="0"/>
              <a:t>After preparing the dataset, it is imported into Power BI where different visualizations are created to </a:t>
            </a:r>
            <a:r>
              <a:rPr lang="en-GB" sz="2000" dirty="0" err="1"/>
              <a:t>analyze</a:t>
            </a:r>
            <a:r>
              <a:rPr lang="en-GB" sz="2000" dirty="0"/>
              <a:t> the energy usage.</a:t>
            </a:r>
          </a:p>
          <a:p>
            <a:pPr>
              <a:spcBef>
                <a:spcPct val="20000"/>
              </a:spcBef>
              <a:spcAft>
                <a:spcPts val="600"/>
              </a:spcAft>
              <a:buFont typeface="Wingdings" panose="05000000000000000000" pitchFamily="2" charset="2"/>
              <a:buChar char="§"/>
            </a:pPr>
            <a:endParaRPr lang="en-GB" sz="2000" dirty="0"/>
          </a:p>
          <a:p>
            <a:pPr>
              <a:spcBef>
                <a:spcPct val="20000"/>
              </a:spcBef>
              <a:spcAft>
                <a:spcPts val="600"/>
              </a:spcAft>
              <a:buFont typeface="Wingdings" panose="05000000000000000000" pitchFamily="2" charset="2"/>
              <a:buChar char="§"/>
            </a:pPr>
            <a:r>
              <a:rPr lang="en-GB" sz="2000" dirty="0"/>
              <a:t>Charts and graphs are then used to identify patterns, trends, and areas with high electricity consumption.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dirty="0">
                <a:latin typeface="Arial" panose="020B0604020202020204"/>
                <a:cs typeface="Arial" panose="020B0604020202020204"/>
              </a:rPr>
              <a:t>TOOLS </a:t>
            </a:r>
            <a:r>
              <a:rPr lang="en-US" sz="4000" b="1" cap="all" dirty="0" err="1">
                <a:latin typeface="Arial" panose="020B0604020202020204"/>
                <a:cs typeface="Arial" panose="020B0604020202020204"/>
              </a:rPr>
              <a:t>USEd</a:t>
            </a:r>
            <a:endParaRPr lang="en-US" sz="4000" dirty="0"/>
          </a:p>
        </p:txBody>
      </p:sp>
      <p:sp>
        <p:nvSpPr>
          <p:cNvPr id="3" name="Content Placeholder 2"/>
          <p:cNvSpPr>
            <a:spLocks noGrp="1"/>
          </p:cNvSpPr>
          <p:nvPr>
            <p:ph idx="1"/>
          </p:nvPr>
        </p:nvSpPr>
        <p:spPr>
          <a:xfrm>
            <a:off x="266700" y="1572196"/>
            <a:ext cx="10515600" cy="4251960"/>
          </a:xfrm>
        </p:spPr>
        <p:txBody>
          <a:bodyPr vert="horz" lIns="91440" tIns="45720" rIns="91440" bIns="45720" rtlCol="0">
            <a:normAutofit lnSpcReduction="10000"/>
          </a:bodyPr>
          <a:lstStyle/>
          <a:p>
            <a:pPr marL="0" indent="0">
              <a:spcBef>
                <a:spcPct val="20000"/>
              </a:spcBef>
              <a:spcAft>
                <a:spcPts val="600"/>
              </a:spcAft>
              <a:buNone/>
            </a:pPr>
            <a:r>
              <a:rPr lang="en-GB" sz="2000" dirty="0"/>
              <a:t>This project uses a few simple tools  for data analysis and visualization.</a:t>
            </a:r>
          </a:p>
          <a:p>
            <a:pPr marL="0" indent="0">
              <a:spcBef>
                <a:spcPct val="20000"/>
              </a:spcBef>
              <a:spcAft>
                <a:spcPts val="600"/>
              </a:spcAft>
              <a:buNone/>
            </a:pPr>
            <a:endParaRPr lang="en-GB" sz="2000" dirty="0"/>
          </a:p>
          <a:p>
            <a:pPr marL="0" indent="0">
              <a:spcBef>
                <a:spcPct val="20000"/>
              </a:spcBef>
              <a:spcAft>
                <a:spcPts val="600"/>
              </a:spcAft>
              <a:buNone/>
            </a:pPr>
            <a:r>
              <a:rPr lang="en-GB" sz="2000" b="1" dirty="0"/>
              <a:t>Microsoft Excel</a:t>
            </a:r>
          </a:p>
          <a:p>
            <a:pPr marL="0" indent="0">
              <a:spcBef>
                <a:spcPct val="20000"/>
              </a:spcBef>
              <a:spcAft>
                <a:spcPts val="600"/>
              </a:spcAft>
              <a:buNone/>
            </a:pPr>
            <a:r>
              <a:rPr lang="en-GB" sz="2000" dirty="0"/>
              <a:t>Excel is used to store and organize the dataset containing electricity consumption data.</a:t>
            </a:r>
          </a:p>
          <a:p>
            <a:pPr marL="0" indent="0">
              <a:spcBef>
                <a:spcPct val="20000"/>
              </a:spcBef>
              <a:spcAft>
                <a:spcPts val="600"/>
              </a:spcAft>
              <a:buNone/>
            </a:pPr>
            <a:endParaRPr lang="en-GB" sz="2000" dirty="0"/>
          </a:p>
          <a:p>
            <a:pPr marL="0" indent="0">
              <a:spcBef>
                <a:spcPct val="20000"/>
              </a:spcBef>
              <a:spcAft>
                <a:spcPts val="600"/>
              </a:spcAft>
              <a:buNone/>
            </a:pPr>
            <a:r>
              <a:rPr lang="en-GB" sz="2000" b="1" dirty="0"/>
              <a:t>Microsoft Power BI</a:t>
            </a:r>
          </a:p>
          <a:p>
            <a:pPr marL="0" indent="0">
              <a:spcBef>
                <a:spcPct val="20000"/>
              </a:spcBef>
              <a:spcAft>
                <a:spcPts val="600"/>
              </a:spcAft>
              <a:buNone/>
            </a:pPr>
            <a:r>
              <a:rPr lang="en-GB" sz="2000" dirty="0"/>
              <a:t>Power BI is used to create dashboards and visualizations that make it easier to understand the data.</a:t>
            </a:r>
          </a:p>
          <a:p>
            <a:pPr marL="0" indent="0">
              <a:spcBef>
                <a:spcPct val="20000"/>
              </a:spcBef>
              <a:spcAft>
                <a:spcPts val="600"/>
              </a:spcAft>
              <a:buNone/>
            </a:pPr>
            <a:endParaRPr lang="en-GB" sz="2000" dirty="0"/>
          </a:p>
          <a:p>
            <a:pPr marL="0" indent="0">
              <a:spcBef>
                <a:spcPct val="20000"/>
              </a:spcBef>
              <a:spcAft>
                <a:spcPts val="600"/>
              </a:spcAft>
              <a:buNone/>
            </a:pPr>
            <a:r>
              <a:rPr lang="en-GB" sz="2000" b="1" dirty="0"/>
              <a:t>Microsoft PowerPoint</a:t>
            </a:r>
          </a:p>
          <a:p>
            <a:pPr marL="0" indent="0">
              <a:spcBef>
                <a:spcPct val="20000"/>
              </a:spcBef>
              <a:spcAft>
                <a:spcPts val="600"/>
              </a:spcAft>
              <a:buNone/>
            </a:pPr>
            <a:r>
              <a:rPr lang="en-GB" sz="2000" dirty="0"/>
              <a:t>PowerPoint is used to present the project results and findings.</a:t>
            </a:r>
          </a:p>
          <a:p>
            <a:pPr marL="0" indent="0">
              <a:spcBef>
                <a:spcPct val="20000"/>
              </a:spcBef>
              <a:spcAft>
                <a:spcPts val="600"/>
              </a:spcAft>
              <a:buNone/>
            </a:pPr>
            <a:endParaRPr lang="en-GB"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38137" y="749529"/>
            <a:ext cx="10176271" cy="1325563"/>
          </a:xfrm>
        </p:spPr>
        <p:txBody>
          <a:bodyPr lIns="91440" tIns="45720" rIns="91440" bIns="45720" anchor="t">
            <a:normAutofit/>
          </a:bodyPr>
          <a:lstStyle/>
          <a:p>
            <a:r>
              <a:rPr lang="en-US" sz="4000" b="1" dirty="0"/>
              <a:t>Dataset Example</a:t>
            </a:r>
          </a:p>
        </p:txBody>
      </p:sp>
      <p:sp>
        <p:nvSpPr>
          <p:cNvPr id="3" name="Content Placeholder 2"/>
          <p:cNvSpPr>
            <a:spLocks noGrp="1"/>
          </p:cNvSpPr>
          <p:nvPr>
            <p:ph idx="1"/>
          </p:nvPr>
        </p:nvSpPr>
        <p:spPr>
          <a:xfrm>
            <a:off x="338137" y="1584103"/>
            <a:ext cx="10515600" cy="4251960"/>
          </a:xfrm>
        </p:spPr>
        <p:txBody>
          <a:bodyPr vert="horz" lIns="91440" tIns="45720" rIns="91440" bIns="45720" rtlCol="0">
            <a:normAutofit/>
          </a:bodyPr>
          <a:lstStyle/>
          <a:p>
            <a:pPr marL="0" indent="0">
              <a:buNone/>
            </a:pPr>
            <a:r>
              <a:rPr lang="en-US" sz="2000" dirty="0"/>
              <a:t>The dataset used in this project contains information about electricity usage in different campus buildings. </a:t>
            </a:r>
          </a:p>
          <a:p>
            <a:pPr marL="0" indent="0">
              <a:buNone/>
            </a:pPr>
            <a:r>
              <a:rPr lang="en-US" sz="2000" u="sng" dirty="0"/>
              <a:t>Dataset</a:t>
            </a:r>
            <a:r>
              <a:rPr lang="en-US" sz="2000" dirty="0"/>
              <a:t>: This dataset allows us to analyze how electricity consumption varies across different facilities.</a:t>
            </a:r>
          </a:p>
          <a:p>
            <a:pPr marL="0" indent="0">
              <a:buNone/>
            </a:pPr>
            <a:endParaRPr lang="en-US" sz="2000" dirty="0"/>
          </a:p>
        </p:txBody>
      </p:sp>
      <p:graphicFrame>
        <p:nvGraphicFramePr>
          <p:cNvPr id="4" name="Table 3">
            <a:extLst>
              <a:ext uri="{FF2B5EF4-FFF2-40B4-BE49-F238E27FC236}">
                <a16:creationId xmlns:a16="http://schemas.microsoft.com/office/drawing/2014/main" id="{BFD4914C-CCAD-9B2D-73C0-BE75C83F069E}"/>
              </a:ext>
            </a:extLst>
          </p:cNvPr>
          <p:cNvGraphicFramePr>
            <a:graphicFrameLocks noGrp="1"/>
          </p:cNvGraphicFramePr>
          <p:nvPr>
            <p:extLst>
              <p:ext uri="{D42A27DB-BD31-4B8C-83A1-F6EECF244321}">
                <p14:modId xmlns:p14="http://schemas.microsoft.com/office/powerpoint/2010/main" val="2406199545"/>
              </p:ext>
            </p:extLst>
          </p:nvPr>
        </p:nvGraphicFramePr>
        <p:xfrm>
          <a:off x="735044" y="3225729"/>
          <a:ext cx="8127999" cy="2219960"/>
        </p:xfrm>
        <a:graphic>
          <a:graphicData uri="http://schemas.openxmlformats.org/drawingml/2006/table">
            <a:tbl>
              <a:tblPr firstRow="1" bandRow="1">
                <a:tableStyleId>{5C22544A-7EE6-4342-B048-85BDC9FD1C3A}</a:tableStyleId>
              </a:tblPr>
              <a:tblGrid>
                <a:gridCol w="2316066">
                  <a:extLst>
                    <a:ext uri="{9D8B030D-6E8A-4147-A177-3AD203B41FA5}">
                      <a16:colId xmlns:a16="http://schemas.microsoft.com/office/drawing/2014/main" val="2487510584"/>
                    </a:ext>
                  </a:extLst>
                </a:gridCol>
                <a:gridCol w="2761861">
                  <a:extLst>
                    <a:ext uri="{9D8B030D-6E8A-4147-A177-3AD203B41FA5}">
                      <a16:colId xmlns:a16="http://schemas.microsoft.com/office/drawing/2014/main" val="3201095204"/>
                    </a:ext>
                  </a:extLst>
                </a:gridCol>
                <a:gridCol w="3050072">
                  <a:extLst>
                    <a:ext uri="{9D8B030D-6E8A-4147-A177-3AD203B41FA5}">
                      <a16:colId xmlns:a16="http://schemas.microsoft.com/office/drawing/2014/main" val="3665457313"/>
                    </a:ext>
                  </a:extLst>
                </a:gridCol>
              </a:tblGrid>
              <a:tr h="0">
                <a:tc>
                  <a:txBody>
                    <a:bodyPr/>
                    <a:lstStyle/>
                    <a:p>
                      <a:r>
                        <a:rPr lang="en-IN" dirty="0"/>
                        <a:t>Building</a:t>
                      </a:r>
                    </a:p>
                  </a:txBody>
                  <a:tcPr/>
                </a:tc>
                <a:tc>
                  <a:txBody>
                    <a:bodyPr/>
                    <a:lstStyle/>
                    <a:p>
                      <a:r>
                        <a:rPr lang="en-IN" dirty="0"/>
                        <a:t>Month</a:t>
                      </a:r>
                    </a:p>
                  </a:txBody>
                  <a:tcPr/>
                </a:tc>
                <a:tc>
                  <a:txBody>
                    <a:bodyPr/>
                    <a:lstStyle/>
                    <a:p>
                      <a:r>
                        <a:rPr lang="en-IN" dirty="0"/>
                        <a:t>Electricity Usage(kWh)</a:t>
                      </a:r>
                    </a:p>
                  </a:txBody>
                  <a:tcPr/>
                </a:tc>
                <a:extLst>
                  <a:ext uri="{0D108BD9-81ED-4DB2-BD59-A6C34878D82A}">
                    <a16:rowId xmlns:a16="http://schemas.microsoft.com/office/drawing/2014/main" val="2607176295"/>
                  </a:ext>
                </a:extLst>
              </a:tr>
              <a:tr h="370840">
                <a:tc>
                  <a:txBody>
                    <a:bodyPr/>
                    <a:lstStyle/>
                    <a:p>
                      <a:r>
                        <a:rPr lang="en-IN" dirty="0"/>
                        <a:t>Classroom block</a:t>
                      </a:r>
                    </a:p>
                  </a:txBody>
                  <a:tcPr/>
                </a:tc>
                <a:tc>
                  <a:txBody>
                    <a:bodyPr/>
                    <a:lstStyle/>
                    <a:p>
                      <a:r>
                        <a:rPr lang="en-IN" dirty="0"/>
                        <a:t>January</a:t>
                      </a:r>
                    </a:p>
                  </a:txBody>
                  <a:tcPr/>
                </a:tc>
                <a:tc>
                  <a:txBody>
                    <a:bodyPr/>
                    <a:lstStyle/>
                    <a:p>
                      <a:r>
                        <a:rPr lang="en-IN" dirty="0"/>
                        <a:t>1200</a:t>
                      </a:r>
                    </a:p>
                  </a:txBody>
                  <a:tcPr/>
                </a:tc>
                <a:extLst>
                  <a:ext uri="{0D108BD9-81ED-4DB2-BD59-A6C34878D82A}">
                    <a16:rowId xmlns:a16="http://schemas.microsoft.com/office/drawing/2014/main" val="2486037691"/>
                  </a:ext>
                </a:extLst>
              </a:tr>
              <a:tr h="370840">
                <a:tc>
                  <a:txBody>
                    <a:bodyPr/>
                    <a:lstStyle/>
                    <a:p>
                      <a:r>
                        <a:rPr lang="en-IN" dirty="0"/>
                        <a:t>Library</a:t>
                      </a:r>
                    </a:p>
                  </a:txBody>
                  <a:tcPr/>
                </a:tc>
                <a:tc>
                  <a:txBody>
                    <a:bodyPr/>
                    <a:lstStyle/>
                    <a:p>
                      <a:r>
                        <a:rPr lang="en-IN" dirty="0"/>
                        <a:t>January</a:t>
                      </a:r>
                    </a:p>
                  </a:txBody>
                  <a:tcPr/>
                </a:tc>
                <a:tc>
                  <a:txBody>
                    <a:bodyPr/>
                    <a:lstStyle/>
                    <a:p>
                      <a:r>
                        <a:rPr lang="en-IN" dirty="0"/>
                        <a:t>800</a:t>
                      </a:r>
                    </a:p>
                  </a:txBody>
                  <a:tcPr/>
                </a:tc>
                <a:extLst>
                  <a:ext uri="{0D108BD9-81ED-4DB2-BD59-A6C34878D82A}">
                    <a16:rowId xmlns:a16="http://schemas.microsoft.com/office/drawing/2014/main" val="27046772"/>
                  </a:ext>
                </a:extLst>
              </a:tr>
              <a:tr h="370840">
                <a:tc>
                  <a:txBody>
                    <a:bodyPr/>
                    <a:lstStyle/>
                    <a:p>
                      <a:r>
                        <a:rPr lang="en-IN" dirty="0"/>
                        <a:t>Hostel</a:t>
                      </a:r>
                    </a:p>
                  </a:txBody>
                  <a:tcPr/>
                </a:tc>
                <a:tc>
                  <a:txBody>
                    <a:bodyPr/>
                    <a:lstStyle/>
                    <a:p>
                      <a:r>
                        <a:rPr lang="en-IN" dirty="0"/>
                        <a:t>January</a:t>
                      </a:r>
                    </a:p>
                  </a:txBody>
                  <a:tcPr/>
                </a:tc>
                <a:tc>
                  <a:txBody>
                    <a:bodyPr/>
                    <a:lstStyle/>
                    <a:p>
                      <a:r>
                        <a:rPr lang="en-IN" dirty="0"/>
                        <a:t>1500</a:t>
                      </a:r>
                    </a:p>
                  </a:txBody>
                  <a:tcPr/>
                </a:tc>
                <a:extLst>
                  <a:ext uri="{0D108BD9-81ED-4DB2-BD59-A6C34878D82A}">
                    <a16:rowId xmlns:a16="http://schemas.microsoft.com/office/drawing/2014/main" val="907959354"/>
                  </a:ext>
                </a:extLst>
              </a:tr>
              <a:tr h="370840">
                <a:tc>
                  <a:txBody>
                    <a:bodyPr/>
                    <a:lstStyle/>
                    <a:p>
                      <a:r>
                        <a:rPr lang="en-IN" dirty="0"/>
                        <a:t>Laboratory</a:t>
                      </a:r>
                    </a:p>
                  </a:txBody>
                  <a:tcPr/>
                </a:tc>
                <a:tc>
                  <a:txBody>
                    <a:bodyPr/>
                    <a:lstStyle/>
                    <a:p>
                      <a:r>
                        <a:rPr lang="en-IN" dirty="0"/>
                        <a:t>January</a:t>
                      </a:r>
                    </a:p>
                  </a:txBody>
                  <a:tcPr/>
                </a:tc>
                <a:tc>
                  <a:txBody>
                    <a:bodyPr/>
                    <a:lstStyle/>
                    <a:p>
                      <a:r>
                        <a:rPr lang="en-IN" dirty="0"/>
                        <a:t>1000</a:t>
                      </a:r>
                    </a:p>
                  </a:txBody>
                  <a:tcPr/>
                </a:tc>
                <a:extLst>
                  <a:ext uri="{0D108BD9-81ED-4DB2-BD59-A6C34878D82A}">
                    <a16:rowId xmlns:a16="http://schemas.microsoft.com/office/drawing/2014/main" val="1574414464"/>
                  </a:ext>
                </a:extLst>
              </a:tr>
              <a:tr h="370840">
                <a:tc>
                  <a:txBody>
                    <a:bodyPr/>
                    <a:lstStyle/>
                    <a:p>
                      <a:r>
                        <a:rPr lang="en-IN" dirty="0"/>
                        <a:t>Admin Office</a:t>
                      </a:r>
                    </a:p>
                  </a:txBody>
                  <a:tcPr/>
                </a:tc>
                <a:tc>
                  <a:txBody>
                    <a:bodyPr/>
                    <a:lstStyle/>
                    <a:p>
                      <a:r>
                        <a:rPr lang="en-IN" dirty="0"/>
                        <a:t>January</a:t>
                      </a:r>
                    </a:p>
                  </a:txBody>
                  <a:tcPr/>
                </a:tc>
                <a:tc>
                  <a:txBody>
                    <a:bodyPr/>
                    <a:lstStyle/>
                    <a:p>
                      <a:r>
                        <a:rPr lang="en-IN" dirty="0"/>
                        <a:t>600</a:t>
                      </a:r>
                    </a:p>
                  </a:txBody>
                  <a:tcPr/>
                </a:tc>
                <a:extLst>
                  <a:ext uri="{0D108BD9-81ED-4DB2-BD59-A6C34878D82A}">
                    <a16:rowId xmlns:a16="http://schemas.microsoft.com/office/drawing/2014/main" val="2809377120"/>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dirty="0"/>
              <a:t>CHART 1: BAR CHART</a:t>
            </a:r>
          </a:p>
        </p:txBody>
      </p:sp>
      <p:pic>
        <p:nvPicPr>
          <p:cNvPr id="12" name="Content Placeholder 11">
            <a:extLst>
              <a:ext uri="{FF2B5EF4-FFF2-40B4-BE49-F238E27FC236}">
                <a16:creationId xmlns:a16="http://schemas.microsoft.com/office/drawing/2014/main" id="{269AC78B-631E-5694-3A49-D6A885A575D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49086" y="1604865"/>
            <a:ext cx="8706429" cy="4268885"/>
          </a:xfrm>
        </p:spPr>
      </p:pic>
      <p:sp>
        <p:nvSpPr>
          <p:cNvPr id="13" name="TextBox 12">
            <a:extLst>
              <a:ext uri="{FF2B5EF4-FFF2-40B4-BE49-F238E27FC236}">
                <a16:creationId xmlns:a16="http://schemas.microsoft.com/office/drawing/2014/main" id="{B935F498-5173-15D9-88C9-8C0F3AB2BBCD}"/>
              </a:ext>
            </a:extLst>
          </p:cNvPr>
          <p:cNvSpPr txBox="1"/>
          <p:nvPr/>
        </p:nvSpPr>
        <p:spPr>
          <a:xfrm>
            <a:off x="438539" y="1390261"/>
            <a:ext cx="11290041" cy="4801314"/>
          </a:xfrm>
          <a:prstGeom prst="rect">
            <a:avLst/>
          </a:prstGeom>
          <a:noFill/>
        </p:spPr>
        <p:txBody>
          <a:bodyPr wrap="square" rtlCol="0">
            <a:spAutoFit/>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285750" indent="-285750">
              <a:buFont typeface="Wingdings" panose="05000000000000000000" pitchFamily="2" charset="2"/>
              <a:buChar char="§"/>
            </a:pPr>
            <a:r>
              <a:rPr lang="en-IN" dirty="0"/>
              <a:t>This chart shows  the comparison of electricity usage across buildings.</a:t>
            </a:r>
          </a:p>
          <a:p>
            <a:pPr marL="285750" indent="-285750">
              <a:buFont typeface="Wingdings" panose="05000000000000000000" pitchFamily="2" charset="2"/>
              <a:buChar char="§"/>
            </a:pPr>
            <a:r>
              <a:rPr lang="en-IN" dirty="0"/>
              <a:t>Helps identify the building with highest energy consumption.</a:t>
            </a:r>
          </a:p>
          <a:p>
            <a:pPr marL="285750" indent="-285750">
              <a:buFont typeface="Wingdings" panose="05000000000000000000" pitchFamily="2" charset="2"/>
              <a:buChar char="§"/>
            </a:pPr>
            <a:r>
              <a:rPr lang="en-IN" dirty="0"/>
              <a:t>The Hostel and laboratory consume higher electricity due to longer operating hours and equipment usage, while administrative offices consume relatively less energy. </a:t>
            </a:r>
          </a:p>
          <a:p>
            <a:endParaRPr lang="en-IN" dirty="0"/>
          </a:p>
        </p:txBody>
      </p:sp>
      <p:pic>
        <p:nvPicPr>
          <p:cNvPr id="15" name="Picture 14">
            <a:extLst>
              <a:ext uri="{FF2B5EF4-FFF2-40B4-BE49-F238E27FC236}">
                <a16:creationId xmlns:a16="http://schemas.microsoft.com/office/drawing/2014/main" id="{E1104DE6-D8EE-2DED-742F-FAAFB78B85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76099" y="1579271"/>
            <a:ext cx="5077534" cy="301378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dirty="0">
                <a:latin typeface="Arial" panose="020B0604020202020204"/>
                <a:cs typeface="Arial" panose="020B0604020202020204"/>
              </a:rPr>
              <a:t>CHART 2: LINE CHART</a:t>
            </a:r>
            <a:endParaRPr lang="en-US" sz="4000" dirty="0"/>
          </a:p>
        </p:txBody>
      </p:sp>
      <p:sp>
        <p:nvSpPr>
          <p:cNvPr id="3" name="Content Placeholder 2"/>
          <p:cNvSpPr>
            <a:spLocks noGrp="1"/>
          </p:cNvSpPr>
          <p:nvPr>
            <p:ph idx="1"/>
          </p:nvPr>
        </p:nvSpPr>
        <p:spPr>
          <a:xfrm>
            <a:off x="268071" y="1304434"/>
            <a:ext cx="10515600" cy="4251960"/>
          </a:xfrm>
        </p:spPr>
        <p:txBody>
          <a:bodyPr vert="horz" lIns="91440" tIns="45720" rIns="91440" bIns="45720" rtlCol="0">
            <a:normAutofit/>
          </a:bodyPr>
          <a:lstStyle/>
          <a:p>
            <a:pPr marL="0" indent="0">
              <a:spcBef>
                <a:spcPct val="20000"/>
              </a:spcBef>
              <a:spcAft>
                <a:spcPts val="600"/>
              </a:spcAft>
              <a:buNone/>
            </a:pPr>
            <a:endParaRPr lang="en-US" sz="2200" dirty="0">
              <a:latin typeface="Franklin Gothic Book" panose="020B0503020102020204"/>
            </a:endParaRPr>
          </a:p>
          <a:p>
            <a:pPr marL="0" indent="0">
              <a:buNone/>
            </a:pPr>
            <a:endParaRPr lang="en-GB" sz="2200" dirty="0"/>
          </a:p>
        </p:txBody>
      </p:sp>
      <p:pic>
        <p:nvPicPr>
          <p:cNvPr id="5" name="Picture 4">
            <a:extLst>
              <a:ext uri="{FF2B5EF4-FFF2-40B4-BE49-F238E27FC236}">
                <a16:creationId xmlns:a16="http://schemas.microsoft.com/office/drawing/2014/main" id="{1D8E075A-D886-E62B-2F90-C03523FFCF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4701" y="1534873"/>
            <a:ext cx="5784981" cy="3177086"/>
          </a:xfrm>
          <a:prstGeom prst="rect">
            <a:avLst/>
          </a:prstGeom>
        </p:spPr>
      </p:pic>
      <p:sp>
        <p:nvSpPr>
          <p:cNvPr id="7" name="TextBox 6">
            <a:extLst>
              <a:ext uri="{FF2B5EF4-FFF2-40B4-BE49-F238E27FC236}">
                <a16:creationId xmlns:a16="http://schemas.microsoft.com/office/drawing/2014/main" id="{FC550163-E27D-B98A-7718-109D614B3C19}"/>
              </a:ext>
            </a:extLst>
          </p:cNvPr>
          <p:cNvSpPr txBox="1"/>
          <p:nvPr/>
        </p:nvSpPr>
        <p:spPr>
          <a:xfrm>
            <a:off x="923731" y="1304434"/>
            <a:ext cx="10515600" cy="4801314"/>
          </a:xfrm>
          <a:prstGeom prst="rect">
            <a:avLst/>
          </a:prstGeom>
          <a:noFill/>
        </p:spPr>
        <p:txBody>
          <a:bodyPr wrap="square" rtlCol="0">
            <a:spAutoFit/>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This line chart illustrates the monthly electricity usage trend across campus buildings. It helps identify fluctuations in energy consumption and highlights months where electricity demand increases due to higher campus activities.</a:t>
            </a:r>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dirty="0">
                <a:latin typeface="Arial" panose="020B0604020202020204"/>
                <a:cs typeface="Arial" panose="020B0604020202020204"/>
              </a:rPr>
              <a:t>Chart 3: pie chart</a:t>
            </a:r>
            <a:endParaRPr lang="en-US" sz="4000" dirty="0"/>
          </a:p>
        </p:txBody>
      </p:sp>
      <p:sp>
        <p:nvSpPr>
          <p:cNvPr id="3" name="Content Placeholder 2"/>
          <p:cNvSpPr>
            <a:spLocks noGrp="1"/>
          </p:cNvSpPr>
          <p:nvPr>
            <p:ph idx="1"/>
          </p:nvPr>
        </p:nvSpPr>
        <p:spPr>
          <a:xfrm>
            <a:off x="196804" y="1551125"/>
            <a:ext cx="10515600" cy="4251960"/>
          </a:xfrm>
        </p:spPr>
        <p:txBody>
          <a:bodyPr vert="horz" lIns="91440" tIns="45720" rIns="91440" bIns="45720" rtlCol="0" anchor="t">
            <a:normAutofit/>
          </a:bodyPr>
          <a:lstStyle/>
          <a:p>
            <a:pPr marL="0" indent="0">
              <a:buNone/>
            </a:pPr>
            <a:endParaRPr lang="en-US" sz="2200" dirty="0">
              <a:latin typeface="Aptos"/>
            </a:endParaRPr>
          </a:p>
          <a:p>
            <a:pPr marL="0" indent="0">
              <a:buNone/>
            </a:pPr>
            <a:endParaRPr lang="en-IN" sz="2200" u="sng" dirty="0">
              <a:solidFill>
                <a:srgbClr val="0070C0"/>
              </a:solidFill>
              <a:latin typeface="Franklin Gothic Book" panose="020B0503020102020204"/>
            </a:endParaRPr>
          </a:p>
          <a:p>
            <a:pPr marL="0" indent="0">
              <a:buNone/>
            </a:pPr>
            <a:endParaRPr lang="en-IN" sz="2200" u="sng" dirty="0">
              <a:solidFill>
                <a:srgbClr val="0070C0"/>
              </a:solidFill>
              <a:latin typeface="Franklin Gothic Book" panose="020B0503020102020204"/>
            </a:endParaRPr>
          </a:p>
          <a:p>
            <a:pPr marL="0" indent="0">
              <a:buNone/>
            </a:pPr>
            <a:endParaRPr lang="en-IN" sz="2200" dirty="0">
              <a:latin typeface="Franklin Gothic Book" panose="020B0503020102020204"/>
            </a:endParaRPr>
          </a:p>
        </p:txBody>
      </p:sp>
      <p:pic>
        <p:nvPicPr>
          <p:cNvPr id="5" name="Picture 4">
            <a:extLst>
              <a:ext uri="{FF2B5EF4-FFF2-40B4-BE49-F238E27FC236}">
                <a16:creationId xmlns:a16="http://schemas.microsoft.com/office/drawing/2014/main" id="{C4011984-C41C-1F62-9DBE-A744900281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2024" y="1414396"/>
            <a:ext cx="5579707" cy="3092290"/>
          </a:xfrm>
          <a:prstGeom prst="rect">
            <a:avLst/>
          </a:prstGeom>
        </p:spPr>
      </p:pic>
      <p:sp>
        <p:nvSpPr>
          <p:cNvPr id="6" name="TextBox 5">
            <a:extLst>
              <a:ext uri="{FF2B5EF4-FFF2-40B4-BE49-F238E27FC236}">
                <a16:creationId xmlns:a16="http://schemas.microsoft.com/office/drawing/2014/main" id="{398C9170-3833-0298-BD86-B7106EC72E94}"/>
              </a:ext>
            </a:extLst>
          </p:cNvPr>
          <p:cNvSpPr txBox="1"/>
          <p:nvPr/>
        </p:nvSpPr>
        <p:spPr>
          <a:xfrm>
            <a:off x="970384" y="1483567"/>
            <a:ext cx="10515600" cy="3970318"/>
          </a:xfrm>
          <a:prstGeom prst="rect">
            <a:avLst/>
          </a:prstGeom>
          <a:noFill/>
        </p:spPr>
        <p:txBody>
          <a:bodyPr wrap="square" rtlCol="0">
            <a:spAutoFit/>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The pie chart represents the percentage distribution of electricity usage among campus buildings. It provides a clear view of which buildings contribute the most to the total energy consumption.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B2511C-36C4-6F41-6EB6-D4A823FD08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41C1F2-AAC0-5704-2868-AEFAF29B8FAD}"/>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dirty="0">
                <a:latin typeface="Arial" panose="020B0604020202020204"/>
                <a:cs typeface="Arial" panose="020B0604020202020204"/>
              </a:rPr>
              <a:t>Chart 4:stacked column chart</a:t>
            </a:r>
            <a:endParaRPr lang="en-US" sz="4000" dirty="0"/>
          </a:p>
        </p:txBody>
      </p:sp>
      <p:sp>
        <p:nvSpPr>
          <p:cNvPr id="3" name="Content Placeholder 2">
            <a:extLst>
              <a:ext uri="{FF2B5EF4-FFF2-40B4-BE49-F238E27FC236}">
                <a16:creationId xmlns:a16="http://schemas.microsoft.com/office/drawing/2014/main" id="{A9DE33EE-DEF8-B548-3B51-1C0E70405415}"/>
              </a:ext>
            </a:extLst>
          </p:cNvPr>
          <p:cNvSpPr>
            <a:spLocks noGrp="1"/>
          </p:cNvSpPr>
          <p:nvPr>
            <p:ph idx="1"/>
          </p:nvPr>
        </p:nvSpPr>
        <p:spPr>
          <a:xfrm>
            <a:off x="196804" y="1551125"/>
            <a:ext cx="10515600" cy="4251960"/>
          </a:xfrm>
        </p:spPr>
        <p:txBody>
          <a:bodyPr vert="horz" lIns="91440" tIns="45720" rIns="91440" bIns="45720" rtlCol="0" anchor="t">
            <a:normAutofit/>
          </a:bodyPr>
          <a:lstStyle/>
          <a:p>
            <a:pPr marL="0" indent="0">
              <a:buNone/>
            </a:pPr>
            <a:endParaRPr lang="en-US" sz="2200" dirty="0">
              <a:latin typeface="Aptos"/>
            </a:endParaRPr>
          </a:p>
          <a:p>
            <a:pPr marL="0" indent="0">
              <a:buNone/>
            </a:pPr>
            <a:endParaRPr lang="en-IN" sz="2200" u="sng" dirty="0">
              <a:solidFill>
                <a:srgbClr val="0070C0"/>
              </a:solidFill>
              <a:latin typeface="Franklin Gothic Book" panose="020B0503020102020204"/>
            </a:endParaRPr>
          </a:p>
          <a:p>
            <a:pPr marL="0" indent="0">
              <a:buNone/>
            </a:pPr>
            <a:endParaRPr lang="en-IN" sz="2200" u="sng" dirty="0">
              <a:solidFill>
                <a:srgbClr val="0070C0"/>
              </a:solidFill>
              <a:latin typeface="Franklin Gothic Book" panose="020B0503020102020204"/>
            </a:endParaRPr>
          </a:p>
          <a:p>
            <a:pPr marL="0" indent="0">
              <a:buNone/>
            </a:pPr>
            <a:endParaRPr lang="en-IN" sz="2200" dirty="0">
              <a:latin typeface="Franklin Gothic Book" panose="020B0503020102020204"/>
            </a:endParaRPr>
          </a:p>
        </p:txBody>
      </p:sp>
      <p:pic>
        <p:nvPicPr>
          <p:cNvPr id="5" name="Picture 4">
            <a:extLst>
              <a:ext uri="{FF2B5EF4-FFF2-40B4-BE49-F238E27FC236}">
                <a16:creationId xmlns:a16="http://schemas.microsoft.com/office/drawing/2014/main" id="{D3B68FBA-1BE6-DAA9-C08E-493B240CA7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1780" y="1485811"/>
            <a:ext cx="4447963" cy="2955561"/>
          </a:xfrm>
          <a:prstGeom prst="rect">
            <a:avLst/>
          </a:prstGeom>
        </p:spPr>
      </p:pic>
      <p:sp>
        <p:nvSpPr>
          <p:cNvPr id="6" name="TextBox 5">
            <a:extLst>
              <a:ext uri="{FF2B5EF4-FFF2-40B4-BE49-F238E27FC236}">
                <a16:creationId xmlns:a16="http://schemas.microsoft.com/office/drawing/2014/main" id="{F89A9094-D807-AA62-ECA5-7B8840FD3DCD}"/>
              </a:ext>
            </a:extLst>
          </p:cNvPr>
          <p:cNvSpPr txBox="1"/>
          <p:nvPr/>
        </p:nvSpPr>
        <p:spPr>
          <a:xfrm>
            <a:off x="998257" y="1363035"/>
            <a:ext cx="9573209" cy="3970318"/>
          </a:xfrm>
          <a:prstGeom prst="rect">
            <a:avLst/>
          </a:prstGeom>
          <a:noFill/>
        </p:spPr>
        <p:txBody>
          <a:bodyPr wrap="square" rtlCol="0">
            <a:spAutoFit/>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This chart shows how electricity consumption varies across different buildings each month. It helps identify buildings with consistently high energy usage.</a:t>
            </a:r>
          </a:p>
        </p:txBody>
      </p:sp>
    </p:spTree>
    <p:extLst>
      <p:ext uri="{BB962C8B-B14F-4D97-AF65-F5344CB8AC3E}">
        <p14:creationId xmlns:p14="http://schemas.microsoft.com/office/powerpoint/2010/main" val="38735950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8EA1E6-9AB4-A972-F9DB-2CE084A695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48B08F-7EDE-7CCE-68A5-B8D9DC52DB1D}"/>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dirty="0">
                <a:latin typeface="Arial" panose="020B0604020202020204"/>
                <a:cs typeface="Arial" panose="020B0604020202020204"/>
              </a:rPr>
              <a:t>Chart 5: AREA CHART</a:t>
            </a:r>
            <a:endParaRPr lang="en-US" sz="4000" dirty="0"/>
          </a:p>
        </p:txBody>
      </p:sp>
      <p:sp>
        <p:nvSpPr>
          <p:cNvPr id="3" name="Content Placeholder 2">
            <a:extLst>
              <a:ext uri="{FF2B5EF4-FFF2-40B4-BE49-F238E27FC236}">
                <a16:creationId xmlns:a16="http://schemas.microsoft.com/office/drawing/2014/main" id="{846CDF93-414B-DD58-77C4-B9ECA59D5EC9}"/>
              </a:ext>
            </a:extLst>
          </p:cNvPr>
          <p:cNvSpPr>
            <a:spLocks noGrp="1"/>
          </p:cNvSpPr>
          <p:nvPr>
            <p:ph idx="1"/>
          </p:nvPr>
        </p:nvSpPr>
        <p:spPr>
          <a:xfrm>
            <a:off x="196804" y="1551125"/>
            <a:ext cx="10515600" cy="4251960"/>
          </a:xfrm>
        </p:spPr>
        <p:txBody>
          <a:bodyPr vert="horz" lIns="91440" tIns="45720" rIns="91440" bIns="45720" rtlCol="0" anchor="t">
            <a:normAutofit/>
          </a:bodyPr>
          <a:lstStyle/>
          <a:p>
            <a:pPr marL="0" indent="0">
              <a:buNone/>
            </a:pPr>
            <a:endParaRPr lang="en-US" sz="2200" dirty="0">
              <a:latin typeface="Aptos"/>
            </a:endParaRPr>
          </a:p>
          <a:p>
            <a:pPr marL="0" indent="0">
              <a:buNone/>
            </a:pPr>
            <a:endParaRPr lang="en-IN" sz="2200" u="sng" dirty="0">
              <a:solidFill>
                <a:srgbClr val="0070C0"/>
              </a:solidFill>
              <a:latin typeface="Franklin Gothic Book" panose="020B0503020102020204"/>
            </a:endParaRPr>
          </a:p>
          <a:p>
            <a:pPr marL="0" indent="0">
              <a:buNone/>
            </a:pPr>
            <a:endParaRPr lang="en-IN" sz="2200" u="sng" dirty="0">
              <a:solidFill>
                <a:srgbClr val="0070C0"/>
              </a:solidFill>
              <a:latin typeface="Franklin Gothic Book" panose="020B0503020102020204"/>
            </a:endParaRPr>
          </a:p>
          <a:p>
            <a:pPr marL="0" indent="0">
              <a:buNone/>
            </a:pPr>
            <a:endParaRPr lang="en-IN" sz="2200" dirty="0">
              <a:latin typeface="Franklin Gothic Book" panose="020B0503020102020204"/>
            </a:endParaRPr>
          </a:p>
        </p:txBody>
      </p:sp>
      <p:pic>
        <p:nvPicPr>
          <p:cNvPr id="7" name="Picture 6">
            <a:extLst>
              <a:ext uri="{FF2B5EF4-FFF2-40B4-BE49-F238E27FC236}">
                <a16:creationId xmlns:a16="http://schemas.microsoft.com/office/drawing/2014/main" id="{B994EE68-6FD9-A8F5-6097-D500E67536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0433" y="1551125"/>
            <a:ext cx="4753638" cy="2953162"/>
          </a:xfrm>
          <a:prstGeom prst="rect">
            <a:avLst/>
          </a:prstGeom>
        </p:spPr>
      </p:pic>
      <p:sp>
        <p:nvSpPr>
          <p:cNvPr id="8" name="TextBox 7">
            <a:extLst>
              <a:ext uri="{FF2B5EF4-FFF2-40B4-BE49-F238E27FC236}">
                <a16:creationId xmlns:a16="http://schemas.microsoft.com/office/drawing/2014/main" id="{6D03D47E-8EBF-4538-7E2B-1CA0812D42B3}"/>
              </a:ext>
            </a:extLst>
          </p:cNvPr>
          <p:cNvSpPr txBox="1"/>
          <p:nvPr/>
        </p:nvSpPr>
        <p:spPr>
          <a:xfrm>
            <a:off x="709127" y="1399592"/>
            <a:ext cx="10674220" cy="3970318"/>
          </a:xfrm>
          <a:prstGeom prst="rect">
            <a:avLst/>
          </a:prstGeom>
          <a:noFill/>
        </p:spPr>
        <p:txBody>
          <a:bodyPr wrap="square" rtlCol="0">
            <a:spAutoFit/>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The area chart visualizes changes in electricity consumption over time, helping identify seasonal patterns and peak energy demand periods.</a:t>
            </a:r>
          </a:p>
        </p:txBody>
      </p:sp>
    </p:spTree>
    <p:extLst>
      <p:ext uri="{BB962C8B-B14F-4D97-AF65-F5344CB8AC3E}">
        <p14:creationId xmlns:p14="http://schemas.microsoft.com/office/powerpoint/2010/main" val="41580342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B8EC97F-DED1-AB05-2397-309B1A8BA9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E41A21-373A-A251-0C4B-002443E5D716}"/>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dirty="0">
                <a:latin typeface="Arial" panose="020B0604020202020204"/>
                <a:cs typeface="Arial" panose="020B0604020202020204"/>
              </a:rPr>
              <a:t>Chart 6: </a:t>
            </a:r>
            <a:r>
              <a:rPr lang="en-US" sz="4000" b="1" cap="all" dirty="0" err="1">
                <a:latin typeface="Arial" panose="020B0604020202020204"/>
                <a:cs typeface="Arial" panose="020B0604020202020204"/>
              </a:rPr>
              <a:t>kpi</a:t>
            </a:r>
            <a:r>
              <a:rPr lang="en-US" sz="4000" b="1" cap="all" dirty="0">
                <a:latin typeface="Arial" panose="020B0604020202020204"/>
                <a:cs typeface="Arial" panose="020B0604020202020204"/>
              </a:rPr>
              <a:t> card</a:t>
            </a:r>
            <a:endParaRPr lang="en-US" sz="4000" dirty="0"/>
          </a:p>
        </p:txBody>
      </p:sp>
      <p:sp>
        <p:nvSpPr>
          <p:cNvPr id="3" name="Content Placeholder 2">
            <a:extLst>
              <a:ext uri="{FF2B5EF4-FFF2-40B4-BE49-F238E27FC236}">
                <a16:creationId xmlns:a16="http://schemas.microsoft.com/office/drawing/2014/main" id="{AAC5ADC2-DB28-6B64-C655-5F47DB36CBEF}"/>
              </a:ext>
            </a:extLst>
          </p:cNvPr>
          <p:cNvSpPr>
            <a:spLocks noGrp="1"/>
          </p:cNvSpPr>
          <p:nvPr>
            <p:ph idx="1"/>
          </p:nvPr>
        </p:nvSpPr>
        <p:spPr>
          <a:xfrm>
            <a:off x="196804" y="1551125"/>
            <a:ext cx="10515600" cy="4251960"/>
          </a:xfrm>
        </p:spPr>
        <p:txBody>
          <a:bodyPr vert="horz" lIns="91440" tIns="45720" rIns="91440" bIns="45720" rtlCol="0" anchor="t">
            <a:normAutofit/>
          </a:bodyPr>
          <a:lstStyle/>
          <a:p>
            <a:pPr marL="0" indent="0">
              <a:buNone/>
            </a:pPr>
            <a:endParaRPr lang="en-US" sz="2200" dirty="0">
              <a:latin typeface="Aptos"/>
            </a:endParaRPr>
          </a:p>
          <a:p>
            <a:pPr marL="0" indent="0">
              <a:buNone/>
            </a:pPr>
            <a:endParaRPr lang="en-IN" sz="2200" u="sng" dirty="0">
              <a:solidFill>
                <a:srgbClr val="0070C0"/>
              </a:solidFill>
              <a:latin typeface="Franklin Gothic Book" panose="020B0503020102020204"/>
            </a:endParaRPr>
          </a:p>
          <a:p>
            <a:pPr marL="0" indent="0">
              <a:buNone/>
            </a:pPr>
            <a:endParaRPr lang="en-IN" sz="2200" u="sng" dirty="0">
              <a:solidFill>
                <a:srgbClr val="0070C0"/>
              </a:solidFill>
              <a:latin typeface="Franklin Gothic Book" panose="020B0503020102020204"/>
            </a:endParaRPr>
          </a:p>
          <a:p>
            <a:pPr marL="0" indent="0">
              <a:buNone/>
            </a:pPr>
            <a:endParaRPr lang="en-IN" sz="2200" dirty="0">
              <a:latin typeface="Franklin Gothic Book" panose="020B0503020102020204"/>
            </a:endParaRPr>
          </a:p>
        </p:txBody>
      </p:sp>
      <p:pic>
        <p:nvPicPr>
          <p:cNvPr id="7" name="Picture 6">
            <a:extLst>
              <a:ext uri="{FF2B5EF4-FFF2-40B4-BE49-F238E27FC236}">
                <a16:creationId xmlns:a16="http://schemas.microsoft.com/office/drawing/2014/main" id="{24B7ECB8-8C70-063B-E17A-5B96FC1BD5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8600" y="1389451"/>
            <a:ext cx="5792008" cy="3061252"/>
          </a:xfrm>
          <a:prstGeom prst="rect">
            <a:avLst/>
          </a:prstGeom>
        </p:spPr>
      </p:pic>
      <p:sp>
        <p:nvSpPr>
          <p:cNvPr id="8" name="TextBox 7">
            <a:extLst>
              <a:ext uri="{FF2B5EF4-FFF2-40B4-BE49-F238E27FC236}">
                <a16:creationId xmlns:a16="http://schemas.microsoft.com/office/drawing/2014/main" id="{6FCB5B2E-D322-6668-84F0-AC534C0A89D1}"/>
              </a:ext>
            </a:extLst>
          </p:cNvPr>
          <p:cNvSpPr txBox="1"/>
          <p:nvPr/>
        </p:nvSpPr>
        <p:spPr>
          <a:xfrm>
            <a:off x="895739" y="1455576"/>
            <a:ext cx="10515600" cy="3970318"/>
          </a:xfrm>
          <a:prstGeom prst="rect">
            <a:avLst/>
          </a:prstGeom>
          <a:noFill/>
        </p:spPr>
        <p:txBody>
          <a:bodyPr wrap="square" rtlCol="0">
            <a:spAutoFit/>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The KPI card displays the total electricity consumption across all campus buildings. It provides a quick overview of overall energy usage and helps administrators monitor total electricity demand.</a:t>
            </a:r>
          </a:p>
        </p:txBody>
      </p:sp>
    </p:spTree>
    <p:extLst>
      <p:ext uri="{BB962C8B-B14F-4D97-AF65-F5344CB8AC3E}">
        <p14:creationId xmlns:p14="http://schemas.microsoft.com/office/powerpoint/2010/main" val="12935671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01FAB7F-CFDF-CD86-0323-878C059EDE2F}"/>
              </a:ext>
            </a:extLst>
          </p:cNvPr>
          <p:cNvSpPr txBox="1"/>
          <p:nvPr/>
        </p:nvSpPr>
        <p:spPr>
          <a:xfrm>
            <a:off x="587829" y="778257"/>
            <a:ext cx="8509518" cy="707886"/>
          </a:xfrm>
          <a:prstGeom prst="rect">
            <a:avLst/>
          </a:prstGeom>
          <a:noFill/>
        </p:spPr>
        <p:txBody>
          <a:bodyPr wrap="square" rtlCol="0">
            <a:spAutoFit/>
          </a:bodyPr>
          <a:lstStyle/>
          <a:p>
            <a:r>
              <a:rPr lang="en-IN" sz="4000" b="1" dirty="0"/>
              <a:t>RESULTS:</a:t>
            </a:r>
          </a:p>
        </p:txBody>
      </p:sp>
      <p:sp>
        <p:nvSpPr>
          <p:cNvPr id="3" name="TextBox 2">
            <a:extLst>
              <a:ext uri="{FF2B5EF4-FFF2-40B4-BE49-F238E27FC236}">
                <a16:creationId xmlns:a16="http://schemas.microsoft.com/office/drawing/2014/main" id="{3ACA7E6D-7077-8F9B-9254-C8FC52BA2C95}"/>
              </a:ext>
            </a:extLst>
          </p:cNvPr>
          <p:cNvSpPr txBox="1"/>
          <p:nvPr/>
        </p:nvSpPr>
        <p:spPr>
          <a:xfrm>
            <a:off x="587829" y="1640948"/>
            <a:ext cx="10786187" cy="5016758"/>
          </a:xfrm>
          <a:prstGeom prst="rect">
            <a:avLst/>
          </a:prstGeom>
          <a:noFill/>
        </p:spPr>
        <p:txBody>
          <a:bodyPr wrap="square" rtlCol="0">
            <a:spAutoFit/>
          </a:bodyPr>
          <a:lstStyle/>
          <a:p>
            <a:pPr marL="285750" indent="-285750">
              <a:buFont typeface="Wingdings" panose="05000000000000000000" pitchFamily="2" charset="2"/>
              <a:buChar char="§"/>
            </a:pPr>
            <a:r>
              <a:rPr lang="en-IN" sz="2000" dirty="0"/>
              <a:t>The total electricity consumption across all campus buildings is approximately 70,000 kWh.</a:t>
            </a:r>
          </a:p>
          <a:p>
            <a:pPr marL="285750" indent="-285750">
              <a:buFont typeface="Wingdings" panose="05000000000000000000" pitchFamily="2" charset="2"/>
              <a:buChar char="§"/>
            </a:pPr>
            <a:r>
              <a:rPr lang="en-IN" sz="2000" dirty="0"/>
              <a:t>Classroom blocks consume the highest electricity, mainly due to continuous usage of lighting, computers, and air-conditioning during academic hours.</a:t>
            </a:r>
          </a:p>
          <a:p>
            <a:pPr marL="285750" indent="-285750">
              <a:buFont typeface="Wingdings" panose="05000000000000000000" pitchFamily="2" charset="2"/>
              <a:buChar char="§"/>
            </a:pPr>
            <a:r>
              <a:rPr lang="en-IN" sz="2000" dirty="0"/>
              <a:t>Libraries and laboratories also show high energy usage because of computers, lab equipment, and longer operating hours.</a:t>
            </a:r>
          </a:p>
          <a:p>
            <a:pPr marL="285750" indent="-285750">
              <a:buFont typeface="Wingdings" panose="05000000000000000000" pitchFamily="2" charset="2"/>
              <a:buChar char="§"/>
            </a:pPr>
            <a:r>
              <a:rPr lang="en-IN" sz="2000" dirty="0"/>
              <a:t>Administrative offices consume comparatively less electricity since they operate only during limited working hours.</a:t>
            </a:r>
          </a:p>
          <a:p>
            <a:pPr marL="285750" indent="-285750">
              <a:buFont typeface="Wingdings" panose="05000000000000000000" pitchFamily="2" charset="2"/>
              <a:buChar char="§"/>
            </a:pPr>
            <a:r>
              <a:rPr lang="en-IN" sz="2000" dirty="0"/>
              <a:t>Monthly electricity usage shows variations depending on campus activities and seasonal conditions.</a:t>
            </a:r>
          </a:p>
          <a:p>
            <a:pPr marL="285750" indent="-285750">
              <a:buFont typeface="Wingdings" panose="05000000000000000000" pitchFamily="2" charset="2"/>
              <a:buChar char="§"/>
            </a:pPr>
            <a:r>
              <a:rPr lang="en-IN" sz="2000" dirty="0"/>
              <a:t>Electricity consumption tends to increase during months with higher student presence and increased equipment usage.</a:t>
            </a:r>
          </a:p>
          <a:p>
            <a:pPr marL="285750" indent="-285750">
              <a:buFont typeface="Wingdings" panose="05000000000000000000" pitchFamily="2" charset="2"/>
              <a:buChar char="§"/>
            </a:pPr>
            <a:endParaRPr lang="en-IN" sz="2000" dirty="0"/>
          </a:p>
          <a:p>
            <a:r>
              <a:rPr lang="en-IN" sz="2000" dirty="0"/>
              <a:t>    </a:t>
            </a:r>
            <a:r>
              <a:rPr lang="en-IN" sz="2000" b="1" u="sng" dirty="0"/>
              <a:t>Overall Insight</a:t>
            </a:r>
            <a:r>
              <a:rPr lang="en-IN" sz="2000" b="1" dirty="0"/>
              <a:t>:</a:t>
            </a:r>
          </a:p>
          <a:p>
            <a:pPr marL="342900" indent="-342900">
              <a:buFont typeface="Wingdings" panose="05000000000000000000" pitchFamily="2" charset="2"/>
              <a:buChar char="§"/>
            </a:pPr>
            <a:r>
              <a:rPr lang="en-IN" sz="2000" dirty="0"/>
              <a:t>    The dashboard helps visualize energy consumption patterns across buildings and months,            making it easier to identify high-usage areas.</a:t>
            </a:r>
          </a:p>
          <a:p>
            <a:pPr marL="285750" indent="-285750">
              <a:buFont typeface="Wingdings" panose="05000000000000000000" pitchFamily="2" charset="2"/>
              <a:buChar char="§"/>
            </a:pPr>
            <a:endParaRPr lang="en-IN" sz="2000" dirty="0"/>
          </a:p>
        </p:txBody>
      </p:sp>
    </p:spTree>
    <p:extLst>
      <p:ext uri="{BB962C8B-B14F-4D97-AF65-F5344CB8AC3E}">
        <p14:creationId xmlns:p14="http://schemas.microsoft.com/office/powerpoint/2010/main" val="1764521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74A6AF-1D12-840E-A336-13980252E374}"/>
              </a:ext>
            </a:extLst>
          </p:cNvPr>
          <p:cNvSpPr txBox="1"/>
          <p:nvPr/>
        </p:nvSpPr>
        <p:spPr>
          <a:xfrm>
            <a:off x="475860" y="807097"/>
            <a:ext cx="8621486" cy="707886"/>
          </a:xfrm>
          <a:prstGeom prst="rect">
            <a:avLst/>
          </a:prstGeom>
          <a:noFill/>
        </p:spPr>
        <p:txBody>
          <a:bodyPr wrap="square" rtlCol="0">
            <a:spAutoFit/>
          </a:bodyPr>
          <a:lstStyle/>
          <a:p>
            <a:r>
              <a:rPr lang="en-IN" sz="4000" b="1" dirty="0"/>
              <a:t>CONCLUSION</a:t>
            </a:r>
          </a:p>
        </p:txBody>
      </p:sp>
      <p:sp>
        <p:nvSpPr>
          <p:cNvPr id="4" name="TextBox 3">
            <a:extLst>
              <a:ext uri="{FF2B5EF4-FFF2-40B4-BE49-F238E27FC236}">
                <a16:creationId xmlns:a16="http://schemas.microsoft.com/office/drawing/2014/main" id="{497E767E-085A-5E97-C191-D85B69502003}"/>
              </a:ext>
            </a:extLst>
          </p:cNvPr>
          <p:cNvSpPr txBox="1"/>
          <p:nvPr/>
        </p:nvSpPr>
        <p:spPr>
          <a:xfrm>
            <a:off x="475860" y="1514983"/>
            <a:ext cx="10926147" cy="4062651"/>
          </a:xfrm>
          <a:prstGeom prst="rect">
            <a:avLst/>
          </a:prstGeom>
          <a:noFill/>
        </p:spPr>
        <p:txBody>
          <a:bodyPr wrap="square" rtlCol="0">
            <a:spAutoFit/>
          </a:bodyPr>
          <a:lstStyle/>
          <a:p>
            <a:pPr marL="285750" indent="-285750">
              <a:buFont typeface="Wingdings" panose="05000000000000000000" pitchFamily="2" charset="2"/>
              <a:buChar char="§"/>
            </a:pPr>
            <a:r>
              <a:rPr lang="en-IN" sz="2000" dirty="0"/>
              <a:t>This project demonstrates how data visualization and business intelligence tools can help </a:t>
            </a:r>
            <a:r>
              <a:rPr lang="en-IN" sz="2000" dirty="0" err="1"/>
              <a:t>analyze</a:t>
            </a:r>
            <a:r>
              <a:rPr lang="en-IN" sz="2000" dirty="0"/>
              <a:t> electricity consumption patterns within a campus environment.</a:t>
            </a:r>
          </a:p>
          <a:p>
            <a:pPr marL="285750" indent="-285750">
              <a:buFont typeface="Wingdings" panose="05000000000000000000" pitchFamily="2" charset="2"/>
              <a:buChar char="§"/>
            </a:pPr>
            <a:r>
              <a:rPr lang="en-IN" sz="2000" dirty="0"/>
              <a:t>By using Microsoft Power BI, large datasets can be transformed into meaningful dashboards that highlight energy usage trends across buildings and time periods.</a:t>
            </a:r>
          </a:p>
          <a:p>
            <a:pPr marL="285750" indent="-285750">
              <a:buFont typeface="Wingdings" panose="05000000000000000000" pitchFamily="2" charset="2"/>
              <a:buChar char="§"/>
            </a:pPr>
            <a:r>
              <a:rPr lang="en-IN" sz="2000" dirty="0"/>
              <a:t>The analysis clearly shows that different campus facilities contribute differently to total electricity consumption. Buildings such as classrooms, laboratories, and hostels have higher electricity demands due to continuous operational activities and equipment usage.</a:t>
            </a:r>
          </a:p>
          <a:p>
            <a:pPr marL="285750" indent="-285750">
              <a:buFont typeface="Wingdings" panose="05000000000000000000" pitchFamily="2" charset="2"/>
              <a:buChar char="§"/>
            </a:pPr>
            <a:r>
              <a:rPr lang="en-IN" sz="2000" dirty="0"/>
              <a:t>With the help of visual dashboards, campus administrators can easily monitor electricity usage, identify areas of high consumption, and make informed decisions regarding energy management.</a:t>
            </a:r>
          </a:p>
          <a:p>
            <a:pPr marL="285750" indent="-285750">
              <a:buFont typeface="Wingdings" panose="05000000000000000000" pitchFamily="2" charset="2"/>
              <a:buChar char="§"/>
            </a:pPr>
            <a:r>
              <a:rPr lang="en-IN" sz="2000" dirty="0"/>
              <a:t>Overall, the project highlights the importance of data-driven decision making in improving energy efficiency and reducing unnecessary electricity consumption.</a:t>
            </a:r>
          </a:p>
          <a:p>
            <a:pPr marL="285750" indent="-285750">
              <a:buFont typeface="Wingdings" panose="05000000000000000000" pitchFamily="2" charset="2"/>
              <a:buChar char="§"/>
            </a:pPr>
            <a:endParaRPr lang="en-IN" dirty="0"/>
          </a:p>
        </p:txBody>
      </p:sp>
    </p:spTree>
    <p:extLst>
      <p:ext uri="{BB962C8B-B14F-4D97-AF65-F5344CB8AC3E}">
        <p14:creationId xmlns:p14="http://schemas.microsoft.com/office/powerpoint/2010/main" val="14682379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0404BF0-4946-6B61-DAA4-F30417CDA58E}"/>
              </a:ext>
            </a:extLst>
          </p:cNvPr>
          <p:cNvSpPr txBox="1"/>
          <p:nvPr/>
        </p:nvSpPr>
        <p:spPr>
          <a:xfrm>
            <a:off x="438539" y="877078"/>
            <a:ext cx="7352522" cy="707886"/>
          </a:xfrm>
          <a:prstGeom prst="rect">
            <a:avLst/>
          </a:prstGeom>
          <a:noFill/>
        </p:spPr>
        <p:txBody>
          <a:bodyPr wrap="square" rtlCol="0">
            <a:spAutoFit/>
          </a:bodyPr>
          <a:lstStyle/>
          <a:p>
            <a:r>
              <a:rPr lang="en-IN" sz="4000" b="1" dirty="0"/>
              <a:t>FUTURE SCOPE</a:t>
            </a:r>
          </a:p>
        </p:txBody>
      </p:sp>
      <p:sp>
        <p:nvSpPr>
          <p:cNvPr id="4" name="TextBox 3">
            <a:extLst>
              <a:ext uri="{FF2B5EF4-FFF2-40B4-BE49-F238E27FC236}">
                <a16:creationId xmlns:a16="http://schemas.microsoft.com/office/drawing/2014/main" id="{FD68A0A5-9714-5157-0A28-111BB3BF432B}"/>
              </a:ext>
            </a:extLst>
          </p:cNvPr>
          <p:cNvSpPr txBox="1"/>
          <p:nvPr/>
        </p:nvSpPr>
        <p:spPr>
          <a:xfrm>
            <a:off x="438539" y="1696931"/>
            <a:ext cx="10907486" cy="3970318"/>
          </a:xfrm>
          <a:prstGeom prst="rect">
            <a:avLst/>
          </a:prstGeom>
          <a:noFill/>
        </p:spPr>
        <p:txBody>
          <a:bodyPr wrap="square" rtlCol="0">
            <a:spAutoFit/>
          </a:bodyPr>
          <a:lstStyle/>
          <a:p>
            <a:r>
              <a:rPr lang="en-IN" dirty="0"/>
              <a:t>There are several opportunities to improve and expand this project in the future.</a:t>
            </a:r>
          </a:p>
          <a:p>
            <a:endParaRPr lang="en-IN" dirty="0"/>
          </a:p>
          <a:p>
            <a:r>
              <a:rPr lang="en-IN" b="1" dirty="0"/>
              <a:t>Possible enhancements include:</a:t>
            </a:r>
          </a:p>
          <a:p>
            <a:pPr marL="285750" indent="-285750">
              <a:buFont typeface="Wingdings" panose="05000000000000000000" pitchFamily="2" charset="2"/>
              <a:buChar char="§"/>
            </a:pPr>
            <a:r>
              <a:rPr lang="en-IN" dirty="0"/>
              <a:t>Integration with real-time electricity monitoring systems to track energy consumption automatically.</a:t>
            </a:r>
          </a:p>
          <a:p>
            <a:pPr marL="285750" indent="-285750">
              <a:buFont typeface="Wingdings" panose="05000000000000000000" pitchFamily="2" charset="2"/>
              <a:buChar char="§"/>
            </a:pPr>
            <a:r>
              <a:rPr lang="en-IN" dirty="0"/>
              <a:t>Use of Internet of Things(IoT) sensors to collect real-time electricity usage data from different campus buildings.</a:t>
            </a:r>
          </a:p>
          <a:p>
            <a:pPr marL="285750" indent="-285750">
              <a:buFont typeface="Wingdings" panose="05000000000000000000" pitchFamily="2" charset="2"/>
              <a:buChar char="§"/>
            </a:pPr>
            <a:r>
              <a:rPr lang="en-IN" dirty="0"/>
              <a:t>Implementation of predictive analytics models to forecast future electricity demand.</a:t>
            </a:r>
          </a:p>
          <a:p>
            <a:pPr marL="285750" indent="-285750">
              <a:buFont typeface="Wingdings" panose="05000000000000000000" pitchFamily="2" charset="2"/>
              <a:buChar char="§"/>
            </a:pPr>
            <a:r>
              <a:rPr lang="en-IN" dirty="0"/>
              <a:t>Development of automated alerts when electricity usage exceeds a predefined threshold.</a:t>
            </a:r>
          </a:p>
          <a:p>
            <a:pPr marL="285750" indent="-285750">
              <a:buFont typeface="Wingdings" panose="05000000000000000000" pitchFamily="2" charset="2"/>
              <a:buChar char="§"/>
            </a:pPr>
            <a:r>
              <a:rPr lang="en-IN" dirty="0"/>
              <a:t>Expansion of the system to monitor energy usage across multiple campuses or institutions.</a:t>
            </a:r>
          </a:p>
          <a:p>
            <a:pPr marL="285750" indent="-285750">
              <a:buFont typeface="Wingdings" panose="05000000000000000000" pitchFamily="2" charset="2"/>
              <a:buChar char="§"/>
            </a:pPr>
            <a:r>
              <a:rPr lang="en-IN" dirty="0"/>
              <a:t>Integration with renewable energy management systems such as solar power monitoring.</a:t>
            </a:r>
          </a:p>
          <a:p>
            <a:pPr marL="285750" indent="-285750">
              <a:buFont typeface="Wingdings" panose="05000000000000000000" pitchFamily="2" charset="2"/>
              <a:buChar char="§"/>
            </a:pPr>
            <a:endParaRPr lang="en-IN" dirty="0"/>
          </a:p>
          <a:p>
            <a:pPr marL="285750" indent="-285750">
              <a:buFont typeface="Wingdings" panose="05000000000000000000" pitchFamily="2" charset="2"/>
              <a:buChar char="§"/>
            </a:pPr>
            <a:r>
              <a:rPr lang="en-IN" dirty="0"/>
              <a:t>These improvements can help institutions build smarter and more sustainable energy management systems.</a:t>
            </a:r>
          </a:p>
          <a:p>
            <a:pPr marL="285750" indent="-285750">
              <a:buFont typeface="Wingdings" panose="05000000000000000000" pitchFamily="2" charset="2"/>
              <a:buChar char="§"/>
            </a:pPr>
            <a:endParaRPr lang="en-IN" dirty="0"/>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C5F02-7724-C454-0804-76D82BDD1555}"/>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90C5D260-B3F3-10D9-1EC6-56605AF1F5DF}"/>
              </a:ext>
            </a:extLst>
          </p:cNvPr>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B0CDA7EA-0B43-6EC3-9515-88D230A30443}"/>
              </a:ext>
            </a:extLst>
          </p:cNvPr>
          <p:cNvSpPr txBox="1"/>
          <p:nvPr/>
        </p:nvSpPr>
        <p:spPr>
          <a:xfrm>
            <a:off x="391886" y="628021"/>
            <a:ext cx="7025951" cy="707886"/>
          </a:xfrm>
          <a:prstGeom prst="rect">
            <a:avLst/>
          </a:prstGeom>
          <a:noFill/>
        </p:spPr>
        <p:txBody>
          <a:bodyPr wrap="square" rtlCol="0">
            <a:spAutoFit/>
          </a:bodyPr>
          <a:lstStyle/>
          <a:p>
            <a:r>
              <a:rPr lang="en-IN" sz="4000" b="1" dirty="0"/>
              <a:t>REFERENCES</a:t>
            </a:r>
          </a:p>
        </p:txBody>
      </p:sp>
      <p:sp>
        <p:nvSpPr>
          <p:cNvPr id="4" name="TextBox 3">
            <a:extLst>
              <a:ext uri="{FF2B5EF4-FFF2-40B4-BE49-F238E27FC236}">
                <a16:creationId xmlns:a16="http://schemas.microsoft.com/office/drawing/2014/main" id="{99EFE159-6241-525A-604A-FDFA8341D8DB}"/>
              </a:ext>
            </a:extLst>
          </p:cNvPr>
          <p:cNvSpPr txBox="1"/>
          <p:nvPr/>
        </p:nvSpPr>
        <p:spPr>
          <a:xfrm>
            <a:off x="488302" y="1335907"/>
            <a:ext cx="11215396" cy="5355312"/>
          </a:xfrm>
          <a:prstGeom prst="rect">
            <a:avLst/>
          </a:prstGeom>
          <a:noFill/>
        </p:spPr>
        <p:txBody>
          <a:bodyPr wrap="square" rtlCol="0">
            <a:spAutoFit/>
          </a:bodyPr>
          <a:lstStyle/>
          <a:p>
            <a:r>
              <a:rPr lang="en-IN" b="1" dirty="0"/>
              <a:t>Software and Tools</a:t>
            </a:r>
          </a:p>
          <a:p>
            <a:pPr marL="285750" indent="-285750">
              <a:buFont typeface="Wingdings" panose="05000000000000000000" pitchFamily="2" charset="2"/>
              <a:buChar char="§"/>
            </a:pPr>
            <a:r>
              <a:rPr lang="en-IN" dirty="0"/>
              <a:t>Microsoft Power BI: Official documentation and tutorials used for creating dashboards, visualizations, and data analysis.</a:t>
            </a:r>
          </a:p>
          <a:p>
            <a:pPr marL="285750" indent="-285750">
              <a:buFont typeface="Wingdings" panose="05000000000000000000" pitchFamily="2" charset="2"/>
              <a:buChar char="§"/>
            </a:pPr>
            <a:r>
              <a:rPr lang="en-IN" dirty="0"/>
              <a:t>Microsoft Excel: Used for organizing and preparing the electricity consumption dataset before importing it into Power BI.</a:t>
            </a:r>
          </a:p>
          <a:p>
            <a:r>
              <a:rPr lang="en-IN" dirty="0"/>
              <a:t> </a:t>
            </a:r>
            <a:r>
              <a:rPr lang="en-IN" b="1" dirty="0"/>
              <a:t>Learning Resources</a:t>
            </a:r>
          </a:p>
          <a:p>
            <a:pPr marL="285750" indent="-285750">
              <a:buFont typeface="Wingdings" panose="05000000000000000000" pitchFamily="2" charset="2"/>
              <a:buChar char="§"/>
            </a:pPr>
            <a:r>
              <a:rPr lang="en-IN" dirty="0"/>
              <a:t>Microsoft Learn: Learning materials and tutorials on data visualization and Power BI dashboard development.</a:t>
            </a:r>
          </a:p>
          <a:p>
            <a:pPr marL="285750" indent="-285750">
              <a:buFont typeface="Wingdings" panose="05000000000000000000" pitchFamily="2" charset="2"/>
              <a:buChar char="§"/>
            </a:pPr>
            <a:r>
              <a:rPr lang="en-IN" dirty="0"/>
              <a:t>Microsoft Power BI Documentation: Used to understand chart creation, KPI cards, filters, and dashboards design.</a:t>
            </a:r>
          </a:p>
          <a:p>
            <a:r>
              <a:rPr lang="en-IN" b="1" dirty="0"/>
              <a:t> Dataset source</a:t>
            </a:r>
          </a:p>
          <a:p>
            <a:pPr marL="285750" indent="-285750">
              <a:buFont typeface="Wingdings" panose="05000000000000000000" pitchFamily="2" charset="2"/>
              <a:buChar char="§"/>
            </a:pPr>
            <a:r>
              <a:rPr lang="en-IN" dirty="0"/>
              <a:t> Sample electricity usage dataset created for educational purposes to demonstrate energy consumption analysis across campus buildings and months.</a:t>
            </a:r>
          </a:p>
          <a:p>
            <a:r>
              <a:rPr lang="en-IN" dirty="0"/>
              <a:t> </a:t>
            </a:r>
            <a:r>
              <a:rPr lang="en-IN" b="1" dirty="0"/>
              <a:t>Research and concepts</a:t>
            </a:r>
          </a:p>
          <a:p>
            <a:pPr marL="285750" indent="-285750">
              <a:buFont typeface="Wingdings" panose="05000000000000000000" pitchFamily="2" charset="2"/>
              <a:buChar char="§"/>
            </a:pPr>
            <a:r>
              <a:rPr lang="en-IN" dirty="0"/>
              <a:t>Research articles and online resources related to energy consumption monitoring and smart campus management.</a:t>
            </a:r>
          </a:p>
          <a:p>
            <a:pPr marL="285750" indent="-285750">
              <a:buFont typeface="Wingdings" panose="05000000000000000000" pitchFamily="2" charset="2"/>
              <a:buChar char="§"/>
            </a:pPr>
            <a:r>
              <a:rPr lang="en-IN" dirty="0"/>
              <a:t>Articles on business intelligence and data visualization techniques used for </a:t>
            </a:r>
            <a:r>
              <a:rPr lang="en-IN" dirty="0" err="1"/>
              <a:t>analyzing</a:t>
            </a:r>
            <a:r>
              <a:rPr lang="en-IN" dirty="0"/>
              <a:t> large datasets.</a:t>
            </a:r>
          </a:p>
          <a:p>
            <a:pPr marL="285750" indent="-285750">
              <a:buFont typeface="Wingdings" panose="05000000000000000000" pitchFamily="2" charset="2"/>
              <a:buChar char="§"/>
            </a:pPr>
            <a:endParaRPr lang="en-IN" dirty="0"/>
          </a:p>
          <a:p>
            <a:pPr marL="285750" indent="-285750">
              <a:buFont typeface="Wingdings" panose="05000000000000000000" pitchFamily="2" charset="2"/>
              <a:buChar char="§"/>
            </a:pPr>
            <a:r>
              <a:rPr lang="en-IN" b="1" dirty="0"/>
              <a:t>GITHUB LINK:</a:t>
            </a:r>
          </a:p>
          <a:p>
            <a:pPr marL="285750" indent="-285750">
              <a:buFont typeface="Wingdings" panose="05000000000000000000" pitchFamily="2" charset="2"/>
              <a:buChar char="§"/>
            </a:pPr>
            <a:endParaRPr lang="en-IN" dirty="0"/>
          </a:p>
        </p:txBody>
      </p:sp>
    </p:spTree>
    <p:custDataLst>
      <p:tags r:id="rId1"/>
    </p:custDataLst>
    <p:extLst>
      <p:ext uri="{BB962C8B-B14F-4D97-AF65-F5344CB8AC3E}">
        <p14:creationId xmlns:p14="http://schemas.microsoft.com/office/powerpoint/2010/main" val="24802248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48968-291D-EC24-414D-FBBF08EADDC3}"/>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4D0FF8CF-6A87-25AB-D46E-B916EC089780}"/>
              </a:ext>
            </a:extLst>
          </p:cNvPr>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3226486E-760A-5AFA-CF4A-3317024360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6408" y="1463666"/>
            <a:ext cx="9946432" cy="3770807"/>
          </a:xfrm>
          <a:prstGeom prst="rect">
            <a:avLst/>
          </a:prstGeom>
        </p:spPr>
      </p:pic>
      <p:sp>
        <p:nvSpPr>
          <p:cNvPr id="5" name="TextBox 4">
            <a:extLst>
              <a:ext uri="{FF2B5EF4-FFF2-40B4-BE49-F238E27FC236}">
                <a16:creationId xmlns:a16="http://schemas.microsoft.com/office/drawing/2014/main" id="{0D288308-92A2-46CF-4112-B6A8E740660D}"/>
              </a:ext>
            </a:extLst>
          </p:cNvPr>
          <p:cNvSpPr txBox="1"/>
          <p:nvPr/>
        </p:nvSpPr>
        <p:spPr>
          <a:xfrm>
            <a:off x="811763" y="755780"/>
            <a:ext cx="7296539" cy="707886"/>
          </a:xfrm>
          <a:prstGeom prst="rect">
            <a:avLst/>
          </a:prstGeom>
          <a:noFill/>
        </p:spPr>
        <p:txBody>
          <a:bodyPr wrap="square" rtlCol="0">
            <a:spAutoFit/>
          </a:bodyPr>
          <a:lstStyle/>
          <a:p>
            <a:r>
              <a:rPr lang="en-IN" sz="4000" b="1" dirty="0"/>
              <a:t>DASHBOARD OVERVIEW</a:t>
            </a:r>
          </a:p>
        </p:txBody>
      </p:sp>
      <p:sp>
        <p:nvSpPr>
          <p:cNvPr id="6" name="TextBox 5">
            <a:extLst>
              <a:ext uri="{FF2B5EF4-FFF2-40B4-BE49-F238E27FC236}">
                <a16:creationId xmlns:a16="http://schemas.microsoft.com/office/drawing/2014/main" id="{F1FD07AA-065C-9C5B-07B2-9D3C9FB6C210}"/>
              </a:ext>
            </a:extLst>
          </p:cNvPr>
          <p:cNvSpPr txBox="1"/>
          <p:nvPr/>
        </p:nvSpPr>
        <p:spPr>
          <a:xfrm>
            <a:off x="989044" y="5394334"/>
            <a:ext cx="9741159" cy="1200329"/>
          </a:xfrm>
          <a:prstGeom prst="rect">
            <a:avLst/>
          </a:prstGeom>
          <a:noFill/>
        </p:spPr>
        <p:txBody>
          <a:bodyPr wrap="square" rtlCol="0">
            <a:spAutoFit/>
          </a:bodyPr>
          <a:lstStyle/>
          <a:p>
            <a:r>
              <a:rPr lang="en-IN" dirty="0"/>
              <a:t>This slide presents the Power BI dashboard created for </a:t>
            </a:r>
            <a:r>
              <a:rPr lang="en-IN" dirty="0" err="1"/>
              <a:t>analyzing</a:t>
            </a:r>
            <a:r>
              <a:rPr lang="en-IN" dirty="0"/>
              <a:t> campus electricity consumption. The dashboard includes multiple visualizations such as bar chart, line chart, pie chart, stacked column, area chart, and KPI  indicators to monitor energy usage across campus buildings and months.</a:t>
            </a:r>
          </a:p>
        </p:txBody>
      </p:sp>
    </p:spTree>
    <p:custDataLst>
      <p:tags r:id="rId1"/>
    </p:custDataLst>
    <p:extLst>
      <p:ext uri="{BB962C8B-B14F-4D97-AF65-F5344CB8AC3E}">
        <p14:creationId xmlns:p14="http://schemas.microsoft.com/office/powerpoint/2010/main" val="36684599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38C77-D7C8-1C11-E51E-48B26EAE9F00}"/>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99A183FF-EC23-9B42-23A8-D9FF62E92D0D}"/>
              </a:ext>
            </a:extLst>
          </p:cNvPr>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87A2E561-4CBD-D6EE-05B7-1FA635151D8E}"/>
              </a:ext>
            </a:extLst>
          </p:cNvPr>
          <p:cNvSpPr txBox="1"/>
          <p:nvPr/>
        </p:nvSpPr>
        <p:spPr>
          <a:xfrm>
            <a:off x="3247621" y="3009471"/>
            <a:ext cx="5696757" cy="839057"/>
          </a:xfrm>
          <a:prstGeom prst="rect">
            <a:avLst/>
          </a:prstGeom>
        </p:spPr>
        <p:txBody>
          <a:bodyPr lIns="91440" tIns="45720" rIns="91440" bIns="45720" anchor="t"/>
          <a:lstStyle>
            <a:lvl1pPr algn="ctr" defTabSz="609600" rtl="0" eaLnBrk="1" latinLnBrk="0" hangingPunct="1">
              <a:spcBef>
                <a:spcPct val="0"/>
              </a:spcBef>
              <a:buNone/>
              <a:defRPr sz="2935" kern="1200">
                <a:solidFill>
                  <a:schemeClr val="tx1"/>
                </a:solidFill>
                <a:latin typeface="+mj-lt"/>
                <a:ea typeface="+mj-ea"/>
                <a:cs typeface="+mj-cs"/>
              </a:defRPr>
            </a:lvl1pPr>
          </a:lstStyle>
          <a:p>
            <a:r>
              <a:rPr lang="en-US" sz="4800" b="1" dirty="0">
                <a:solidFill>
                  <a:srgbClr val="002060"/>
                </a:solidFill>
                <a:latin typeface="Arial" panose="020B0604020202020204"/>
                <a:cs typeface="Arial" panose="020B0604020202020204"/>
              </a:rPr>
              <a:t>Thank You</a:t>
            </a:r>
          </a:p>
        </p:txBody>
      </p:sp>
    </p:spTree>
    <p:custDataLst>
      <p:tags r:id="rId1"/>
    </p:custDataLst>
    <p:extLst>
      <p:ext uri="{BB962C8B-B14F-4D97-AF65-F5344CB8AC3E}">
        <p14:creationId xmlns:p14="http://schemas.microsoft.com/office/powerpoint/2010/main" val="9072321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1338</TotalTime>
  <Words>1335</Words>
  <Application>Microsoft Office PowerPoint</Application>
  <PresentationFormat>Widescreen</PresentationFormat>
  <Paragraphs>223</Paragraphs>
  <Slides>19</Slides>
  <Notes>5</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19</vt:i4>
      </vt:variant>
    </vt:vector>
  </HeadingPairs>
  <TitlesOfParts>
    <vt:vector size="26" baseType="lpstr">
      <vt:lpstr>Aptos</vt:lpstr>
      <vt:lpstr>Arial</vt:lpstr>
      <vt:lpstr>Calibri</vt:lpstr>
      <vt:lpstr>Franklin Gothic Book</vt:lpstr>
      <vt:lpstr>Wingdings</vt:lpstr>
      <vt:lpstr>1_Office Theme</vt:lpstr>
      <vt:lpstr>Custom Design</vt:lpstr>
      <vt:lpstr>PowerPoint Presentation</vt:lpstr>
      <vt:lpstr>OUTLINE:</vt:lpstr>
      <vt:lpstr>Problem Statement:</vt:lpstr>
      <vt:lpstr>Proposed Solution:</vt:lpstr>
      <vt:lpstr>System development  Approach:</vt:lpstr>
      <vt:lpstr>TOOLS USEd</vt:lpstr>
      <vt:lpstr>Dataset Example</vt:lpstr>
      <vt:lpstr>CHART 1: BAR CHART</vt:lpstr>
      <vt:lpstr>CHART 2: LINE CHART</vt:lpstr>
      <vt:lpstr>Chart 3: pie chart</vt:lpstr>
      <vt:lpstr>Chart 4:stacked column chart</vt:lpstr>
      <vt:lpstr>Chart 5: AREA CHART</vt:lpstr>
      <vt:lpstr>Chart 6: kpi card</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Shruthi Kandukuri</cp:lastModifiedBy>
  <cp:revision>105</cp:revision>
  <dcterms:created xsi:type="dcterms:W3CDTF">2024-05-21T11:55:00Z</dcterms:created>
  <dcterms:modified xsi:type="dcterms:W3CDTF">2026-03-12T09:30:01Z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y fmtid="{D5CDD505-2E9C-101B-9397-08002B2CF9AE}" pid="4" name="ICV">
    <vt:lpwstr>EE4E1345D65D4F85A477FE2A1A549664_12</vt:lpwstr>
  </property>
  <property fmtid="{D5CDD505-2E9C-101B-9397-08002B2CF9AE}" pid="5" name="KSOProductBuildVer">
    <vt:lpwstr>1033-12.2.0.23155</vt:lpwstr>
  </property>
</Properties>
</file>